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62" r:id="rId2"/>
    <p:sldId id="257" r:id="rId3"/>
    <p:sldId id="263" r:id="rId4"/>
    <p:sldId id="258" r:id="rId5"/>
    <p:sldId id="286" r:id="rId6"/>
    <p:sldId id="287" r:id="rId7"/>
    <p:sldId id="289" r:id="rId8"/>
    <p:sldId id="290" r:id="rId9"/>
    <p:sldId id="285" r:id="rId10"/>
    <p:sldId id="291" r:id="rId11"/>
    <p:sldId id="292" r:id="rId12"/>
    <p:sldId id="273" r:id="rId13"/>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870" y="-3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84FBCB-A7BF-4D9C-BAB4-6EA14D71830A}" type="datetimeFigureOut">
              <a:rPr lang="ru-RU" smtClean="0"/>
              <a:t>28.04.2026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17BB5C-A5E4-4046-9E5F-6F23F0CED990}" type="slidenum">
              <a:rPr lang="ru-RU" smtClean="0"/>
              <a:t>‹#›</a:t>
            </a:fld>
            <a:endParaRPr lang="ru-RU"/>
          </a:p>
        </p:txBody>
      </p:sp>
    </p:spTree>
    <p:extLst>
      <p:ext uri="{BB962C8B-B14F-4D97-AF65-F5344CB8AC3E}">
        <p14:creationId xmlns:p14="http://schemas.microsoft.com/office/powerpoint/2010/main" val="99150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r>
              <a:rPr lang="ru-RU" smtClean="0"/>
              <a:t>28.04.26</a:t>
            </a:r>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2177175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r>
              <a:rPr lang="ru-RU" smtClean="0"/>
              <a:t>28.04.26</a:t>
            </a:r>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304420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r>
              <a:rPr lang="ru-RU" smtClean="0"/>
              <a:t>28.04.26</a:t>
            </a:r>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2640406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r>
              <a:rPr lang="ru-RU" smtClean="0"/>
              <a:t>28.04.26</a:t>
            </a:r>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464818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9"/>
            <a:ext cx="8229600" cy="857250"/>
          </a:xfrm>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r>
              <a:rPr lang="ru-RU" smtClean="0"/>
              <a:t>28.04.26</a:t>
            </a:r>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3968869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r>
              <a:rPr lang="ru-RU" smtClean="0"/>
              <a:t>28.04.26</a:t>
            </a:r>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2597136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r>
              <a:rPr lang="ru-RU" smtClean="0"/>
              <a:t>28.04.26</a:t>
            </a:r>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3927786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r>
              <a:rPr lang="ru-RU" smtClean="0"/>
              <a:t>28.04.26</a:t>
            </a:r>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930458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r>
              <a:rPr lang="ru-RU" smtClean="0"/>
              <a:t>28.04.26</a:t>
            </a:r>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2781839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r>
              <a:rPr lang="ru-RU" smtClean="0"/>
              <a:t>28.04.26</a:t>
            </a:r>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3460085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154781"/>
            <a:ext cx="2057400" cy="329088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154781"/>
            <a:ext cx="6019800" cy="329088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r>
              <a:rPr lang="ru-RU" smtClean="0"/>
              <a:t>28.04.26</a:t>
            </a:r>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676878C-2127-40CF-8B63-88FA79C4AE39}" type="slidenum">
              <a:rPr lang="ru-RU" smtClean="0"/>
              <a:t>‹#›</a:t>
            </a:fld>
            <a:endParaRPr lang="ru-RU"/>
          </a:p>
        </p:txBody>
      </p:sp>
    </p:spTree>
    <p:extLst>
      <p:ext uri="{BB962C8B-B14F-4D97-AF65-F5344CB8AC3E}">
        <p14:creationId xmlns:p14="http://schemas.microsoft.com/office/powerpoint/2010/main" val="1004351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u-RU" smtClean="0"/>
              <a:t>28.04.26</a:t>
            </a:r>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76878C-2127-40CF-8B63-88FA79C4AE39}" type="slidenum">
              <a:rPr lang="ru-RU" smtClean="0"/>
              <a:t>‹#›</a:t>
            </a:fld>
            <a:endParaRPr lang="ru-RU"/>
          </a:p>
        </p:txBody>
      </p:sp>
    </p:spTree>
    <p:extLst>
      <p:ext uri="{BB962C8B-B14F-4D97-AF65-F5344CB8AC3E}">
        <p14:creationId xmlns:p14="http://schemas.microsoft.com/office/powerpoint/2010/main" val="2807125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alinaa@mail.r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11560" y="2283718"/>
            <a:ext cx="7772400" cy="1102519"/>
          </a:xfrm>
        </p:spPr>
        <p:txBody>
          <a:bodyPr/>
          <a:lstStyle/>
          <a:p>
            <a:r>
              <a:rPr lang="en-US" dirty="0" smtClean="0"/>
              <a:t>Course</a:t>
            </a:r>
            <a:r>
              <a:rPr lang="ru-RU" dirty="0" smtClean="0"/>
              <a:t>: </a:t>
            </a:r>
            <a:r>
              <a:rPr lang="en-US" dirty="0" smtClean="0"/>
              <a:t>Data analysis</a:t>
            </a:r>
            <a:endParaRPr lang="ru-RU" dirty="0"/>
          </a:p>
        </p:txBody>
      </p:sp>
      <p:sp>
        <p:nvSpPr>
          <p:cNvPr id="3" name="Подзаголовок 2"/>
          <p:cNvSpPr>
            <a:spLocks noGrp="1"/>
          </p:cNvSpPr>
          <p:nvPr>
            <p:ph type="subTitle" idx="1"/>
          </p:nvPr>
        </p:nvSpPr>
        <p:spPr>
          <a:xfrm>
            <a:off x="2195736" y="3829050"/>
            <a:ext cx="6948264" cy="686916"/>
          </a:xfrm>
        </p:spPr>
        <p:txBody>
          <a:bodyPr>
            <a:normAutofit fontScale="70000" lnSpcReduction="20000"/>
          </a:bodyPr>
          <a:lstStyle/>
          <a:p>
            <a:r>
              <a:rPr lang="en-US" sz="2800" dirty="0" err="1" smtClean="0"/>
              <a:t>Atalyan</a:t>
            </a:r>
            <a:r>
              <a:rPr lang="en-US" sz="2800" dirty="0" smtClean="0"/>
              <a:t> </a:t>
            </a:r>
            <a:r>
              <a:rPr lang="en-US" sz="2800" dirty="0" err="1" smtClean="0"/>
              <a:t>Alina</a:t>
            </a:r>
            <a:r>
              <a:rPr lang="en-US" sz="2800" dirty="0" smtClean="0"/>
              <a:t> </a:t>
            </a:r>
            <a:r>
              <a:rPr lang="en-US" sz="2800" dirty="0" err="1" smtClean="0"/>
              <a:t>Valerievna</a:t>
            </a:r>
            <a:endParaRPr lang="en-US" sz="2800" dirty="0" smtClean="0"/>
          </a:p>
          <a:p>
            <a:r>
              <a:rPr lang="en-US" sz="2800" dirty="0" smtClean="0">
                <a:hlinkClick r:id="rId2"/>
              </a:rPr>
              <a:t>alinaa@mail.ru</a:t>
            </a:r>
            <a:endParaRPr lang="en-US" sz="2800" dirty="0" smtClean="0"/>
          </a:p>
          <a:p>
            <a:endParaRPr lang="ru-RU" sz="1400" dirty="0"/>
          </a:p>
        </p:txBody>
      </p:sp>
      <p:sp>
        <p:nvSpPr>
          <p:cNvPr id="4" name="TextBox 3"/>
          <p:cNvSpPr txBox="1"/>
          <p:nvPr/>
        </p:nvSpPr>
        <p:spPr>
          <a:xfrm>
            <a:off x="2699792" y="195486"/>
            <a:ext cx="5616624" cy="923330"/>
          </a:xfrm>
          <a:prstGeom prst="rect">
            <a:avLst/>
          </a:prstGeom>
          <a:noFill/>
        </p:spPr>
        <p:txBody>
          <a:bodyPr wrap="square" rtlCol="0">
            <a:spAutoFit/>
          </a:bodyPr>
          <a:lstStyle/>
          <a:p>
            <a:pPr algn="ctr"/>
            <a:r>
              <a:rPr lang="en-US" b="1" dirty="0" smtClean="0"/>
              <a:t>Irkutsk </a:t>
            </a:r>
            <a:r>
              <a:rPr lang="en-US" b="1" dirty="0"/>
              <a:t>National Research Technical </a:t>
            </a:r>
            <a:r>
              <a:rPr lang="en-US" b="1" dirty="0" smtClean="0"/>
              <a:t>University</a:t>
            </a:r>
            <a:endParaRPr lang="ru-RU" b="1" dirty="0" smtClean="0"/>
          </a:p>
          <a:p>
            <a:pPr algn="ctr"/>
            <a:r>
              <a:rPr lang="en-US" b="1" dirty="0" smtClean="0"/>
              <a:t>Baikal </a:t>
            </a:r>
            <a:r>
              <a:rPr lang="en-US" b="1" dirty="0"/>
              <a:t>school of BRICS</a:t>
            </a:r>
          </a:p>
          <a:p>
            <a:endParaRPr lang="ru-RU"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99" y="94491"/>
            <a:ext cx="1704689" cy="1620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Прямоугольник 4"/>
          <p:cNvSpPr/>
          <p:nvPr/>
        </p:nvSpPr>
        <p:spPr>
          <a:xfrm>
            <a:off x="3059832" y="987574"/>
            <a:ext cx="5652120" cy="646331"/>
          </a:xfrm>
          <a:prstGeom prst="rect">
            <a:avLst/>
          </a:prstGeom>
        </p:spPr>
        <p:txBody>
          <a:bodyPr wrap="square">
            <a:spAutoFit/>
          </a:bodyPr>
          <a:lstStyle/>
          <a:p>
            <a:pPr algn="ctr"/>
            <a:r>
              <a:rPr lang="en-US" dirty="0" smtClean="0"/>
              <a:t>09.04.02 Information systems and technology</a:t>
            </a:r>
            <a:endParaRPr lang="ru-RU" dirty="0" smtClean="0"/>
          </a:p>
          <a:p>
            <a:pPr algn="ctr"/>
            <a:r>
              <a:rPr lang="en-US" dirty="0" smtClean="0"/>
              <a:t>Program</a:t>
            </a:r>
            <a:r>
              <a:rPr lang="ru-RU" dirty="0" smtClean="0"/>
              <a:t>: </a:t>
            </a:r>
            <a:r>
              <a:rPr lang="en-US" dirty="0" smtClean="0"/>
              <a:t>Information technologies, networks and big data</a:t>
            </a:r>
            <a:endParaRPr lang="ru-RU" dirty="0" smtClean="0"/>
          </a:p>
        </p:txBody>
      </p:sp>
    </p:spTree>
    <p:extLst>
      <p:ext uri="{BB962C8B-B14F-4D97-AF65-F5344CB8AC3E}">
        <p14:creationId xmlns:p14="http://schemas.microsoft.com/office/powerpoint/2010/main" val="1547730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23311" y="14563"/>
            <a:ext cx="3037691" cy="707886"/>
          </a:xfrm>
          <a:prstGeom prst="rect">
            <a:avLst/>
          </a:prstGeom>
          <a:noFill/>
        </p:spPr>
        <p:txBody>
          <a:bodyPr wrap="none" rtlCol="0">
            <a:spAutoFit/>
          </a:bodyPr>
          <a:lstStyle/>
          <a:p>
            <a:r>
              <a:rPr lang="en-US" sz="4000" dirty="0" smtClean="0"/>
              <a:t>Practical class</a:t>
            </a:r>
            <a:endParaRPr lang="ru-RU" sz="4000" dirty="0"/>
          </a:p>
        </p:txBody>
      </p:sp>
      <p:cxnSp>
        <p:nvCxnSpPr>
          <p:cNvPr id="6" name="Прямая соединительная линия 5"/>
          <p:cNvCxnSpPr/>
          <p:nvPr/>
        </p:nvCxnSpPr>
        <p:spPr>
          <a:xfrm>
            <a:off x="755576" y="722449"/>
            <a:ext cx="7200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33206"/>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Дата 8"/>
          <p:cNvSpPr>
            <a:spLocks noGrp="1"/>
          </p:cNvSpPr>
          <p:nvPr>
            <p:ph type="dt" sz="half" idx="10"/>
          </p:nvPr>
        </p:nvSpPr>
        <p:spPr/>
        <p:txBody>
          <a:bodyPr/>
          <a:lstStyle/>
          <a:p>
            <a:r>
              <a:rPr lang="ru-RU" smtClean="0"/>
              <a:t>28.04.26</a:t>
            </a:r>
            <a:endParaRPr lang="ru-RU"/>
          </a:p>
        </p:txBody>
      </p:sp>
      <p:sp>
        <p:nvSpPr>
          <p:cNvPr id="14" name="Заголовок 1"/>
          <p:cNvSpPr>
            <a:spLocks noGrp="1"/>
          </p:cNvSpPr>
          <p:nvPr>
            <p:ph type="title"/>
          </p:nvPr>
        </p:nvSpPr>
        <p:spPr>
          <a:xfrm>
            <a:off x="569837" y="707317"/>
            <a:ext cx="8229600" cy="857250"/>
          </a:xfrm>
        </p:spPr>
        <p:txBody>
          <a:bodyPr>
            <a:normAutofit/>
          </a:bodyPr>
          <a:lstStyle/>
          <a:p>
            <a:r>
              <a:rPr lang="ru-RU" dirty="0" smtClean="0">
                <a:solidFill>
                  <a:schemeClr val="accent1">
                    <a:lumMod val="75000"/>
                  </a:schemeClr>
                </a:solidFill>
              </a:rPr>
              <a:t>Statistical </a:t>
            </a:r>
            <a:r>
              <a:rPr lang="ru-RU" dirty="0">
                <a:solidFill>
                  <a:schemeClr val="accent1">
                    <a:lumMod val="75000"/>
                  </a:schemeClr>
                </a:solidFill>
              </a:rPr>
              <a:t>Analysis </a:t>
            </a:r>
          </a:p>
        </p:txBody>
      </p:sp>
      <p:sp>
        <p:nvSpPr>
          <p:cNvPr id="8" name="Прямоугольник 7"/>
          <p:cNvSpPr/>
          <p:nvPr/>
        </p:nvSpPr>
        <p:spPr>
          <a:xfrm>
            <a:off x="611560" y="1419622"/>
            <a:ext cx="7776864" cy="923330"/>
          </a:xfrm>
          <a:prstGeom prst="rect">
            <a:avLst/>
          </a:prstGeom>
        </p:spPr>
        <p:txBody>
          <a:bodyPr wrap="square">
            <a:spAutoFit/>
          </a:bodyPr>
          <a:lstStyle/>
          <a:p>
            <a:pPr marL="1200150" lvl="2" indent="-285750">
              <a:buFont typeface="Arial" pitchFamily="34" charset="0"/>
              <a:buChar char="•"/>
            </a:pPr>
            <a:r>
              <a:rPr lang="en-US" dirty="0" smtClean="0"/>
              <a:t>Correlation </a:t>
            </a:r>
            <a:r>
              <a:rPr lang="ru-RU" dirty="0" err="1" smtClean="0"/>
              <a:t>Analysis</a:t>
            </a:r>
            <a:r>
              <a:rPr lang="en-US" dirty="0" smtClean="0"/>
              <a:t> </a:t>
            </a:r>
          </a:p>
          <a:p>
            <a:pPr marL="1657350" lvl="3" indent="-285750">
              <a:buFont typeface="Arial" pitchFamily="34" charset="0"/>
              <a:buChar char="•"/>
            </a:pPr>
            <a:endParaRPr lang="en-US" dirty="0" smtClean="0"/>
          </a:p>
          <a:p>
            <a:pPr marL="1200150" lvl="2" indent="-285750">
              <a:buFont typeface="Arial" pitchFamily="34" charset="0"/>
              <a:buChar char="•"/>
            </a:pPr>
            <a:r>
              <a:rPr lang="ru-RU" dirty="0" err="1" smtClean="0"/>
              <a:t>Regression</a:t>
            </a:r>
            <a:r>
              <a:rPr lang="ru-RU" dirty="0" smtClean="0"/>
              <a:t> </a:t>
            </a:r>
            <a:r>
              <a:rPr lang="ru-RU" dirty="0" err="1" smtClean="0"/>
              <a:t>Analysis</a:t>
            </a:r>
            <a:r>
              <a:rPr lang="en-US" dirty="0" smtClean="0"/>
              <a:t> </a:t>
            </a:r>
          </a:p>
        </p:txBody>
      </p:sp>
      <p:sp>
        <p:nvSpPr>
          <p:cNvPr id="2" name="Номер слайда 1"/>
          <p:cNvSpPr>
            <a:spLocks noGrp="1"/>
          </p:cNvSpPr>
          <p:nvPr>
            <p:ph type="sldNum" sz="quarter" idx="12"/>
          </p:nvPr>
        </p:nvSpPr>
        <p:spPr/>
        <p:txBody>
          <a:bodyPr/>
          <a:lstStyle/>
          <a:p>
            <a:fld id="{B676878C-2127-40CF-8B63-88FA79C4AE39}" type="slidenum">
              <a:rPr lang="ru-RU" smtClean="0"/>
              <a:t>2</a:t>
            </a:fld>
            <a:endParaRPr lang="ru-RU"/>
          </a:p>
        </p:txBody>
      </p:sp>
    </p:spTree>
    <p:extLst>
      <p:ext uri="{BB962C8B-B14F-4D97-AF65-F5344CB8AC3E}">
        <p14:creationId xmlns:p14="http://schemas.microsoft.com/office/powerpoint/2010/main" val="216695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755576" y="722449"/>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p:txBody>
          <a:bodyPr>
            <a:normAutofit fontScale="90000"/>
          </a:bodyPr>
          <a:lstStyle/>
          <a:p>
            <a:pPr lvl="1" algn="ctr" rtl="0">
              <a:spcBef>
                <a:spcPct val="0"/>
              </a:spcBef>
            </a:pPr>
            <a:r>
              <a:rPr lang="en-US" sz="4400" kern="1200" dirty="0" smtClean="0">
                <a:solidFill>
                  <a:schemeClr val="accent1">
                    <a:lumMod val="75000"/>
                  </a:schemeClr>
                </a:solidFill>
                <a:latin typeface="+mn-lt"/>
                <a:ea typeface="+mn-ea"/>
                <a:cs typeface="+mn-cs"/>
              </a:rPr>
              <a:t>Data</a:t>
            </a:r>
            <a:r>
              <a:rPr lang="ru-RU" sz="4400" kern="1200" dirty="0" smtClean="0">
                <a:solidFill>
                  <a:schemeClr val="accent1">
                    <a:lumMod val="75000"/>
                  </a:schemeClr>
                </a:solidFill>
                <a:latin typeface="+mn-lt"/>
                <a:ea typeface="+mn-ea"/>
                <a:cs typeface="+mn-cs"/>
              </a:rPr>
              <a:t> </a:t>
            </a:r>
            <a:r>
              <a:rPr lang="en-US" sz="4400" kern="1200" dirty="0" smtClean="0">
                <a:solidFill>
                  <a:schemeClr val="accent1">
                    <a:lumMod val="75000"/>
                  </a:schemeClr>
                </a:solidFill>
                <a:latin typeface="+mn-lt"/>
                <a:ea typeface="+mn-ea"/>
                <a:cs typeface="+mn-cs"/>
              </a:rPr>
              <a:t>Sets </a:t>
            </a:r>
            <a:r>
              <a:rPr lang="en-US" sz="4400" kern="1200" dirty="0">
                <a:solidFill>
                  <a:schemeClr val="accent1">
                    <a:lumMod val="75000"/>
                  </a:schemeClr>
                </a:solidFill>
                <a:latin typeface="+mn-lt"/>
                <a:ea typeface="+mn-ea"/>
                <a:cs typeface="+mn-cs"/>
              </a:rPr>
              <a:t/>
            </a:r>
            <a:br>
              <a:rPr lang="en-US" sz="4400" kern="1200" dirty="0">
                <a:solidFill>
                  <a:schemeClr val="accent1">
                    <a:lumMod val="75000"/>
                  </a:schemeClr>
                </a:solidFill>
                <a:latin typeface="+mn-lt"/>
                <a:ea typeface="+mn-ea"/>
                <a:cs typeface="+mn-cs"/>
              </a:rPr>
            </a:br>
            <a:r>
              <a:rPr lang="en-US" dirty="0" smtClean="0"/>
              <a:t/>
            </a:r>
            <a:br>
              <a:rPr lang="en-US" dirty="0" smtClean="0"/>
            </a:br>
            <a:endParaRPr lang="ru-RU" dirty="0"/>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3339" y="47643"/>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Дата 2"/>
          <p:cNvSpPr>
            <a:spLocks noGrp="1"/>
          </p:cNvSpPr>
          <p:nvPr>
            <p:ph type="dt" sz="half" idx="10"/>
          </p:nvPr>
        </p:nvSpPr>
        <p:spPr/>
        <p:txBody>
          <a:bodyPr/>
          <a:lstStyle/>
          <a:p>
            <a:r>
              <a:rPr lang="ru-RU" smtClean="0"/>
              <a:t>28.04.26</a:t>
            </a:r>
            <a:endParaRPr lang="ru-RU"/>
          </a:p>
        </p:txBody>
      </p:sp>
      <p:sp>
        <p:nvSpPr>
          <p:cNvPr id="10" name="Rectangle 2"/>
          <p:cNvSpPr>
            <a:spLocks noChangeArrowheads="1"/>
          </p:cNvSpPr>
          <p:nvPr/>
        </p:nvSpPr>
        <p:spPr bwMode="auto">
          <a:xfrm>
            <a:off x="323528" y="879854"/>
            <a:ext cx="8324474"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Name</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r>
              <a:rPr lang="en-US" sz="1400" dirty="0" err="1" smtClean="0">
                <a:solidFill>
                  <a:srgbClr val="404040"/>
                </a:solidFill>
                <a:latin typeface="Times New Roman" pitchFamily="18" charset="0"/>
                <a:cs typeface="Times New Roman" pitchFamily="18" charset="0"/>
              </a:rPr>
              <a:t>data_for_analysis</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a:t>
            </a:r>
            <a:r>
              <a:rPr kumimoji="0" lang="en-US" sz="1400" b="0" i="0" u="none" strike="noStrike" cap="none" normalizeH="0" baseline="0" dirty="0" smtClean="0">
                <a:ln>
                  <a:noFill/>
                </a:ln>
                <a:solidFill>
                  <a:srgbClr val="404040"/>
                </a:solidFill>
                <a:effectLst/>
                <a:latin typeface="Times New Roman" pitchFamily="18" charset="0"/>
                <a:cs typeface="Times New Roman" pitchFamily="18" charset="0"/>
              </a:rPr>
              <a:t> (</a:t>
            </a:r>
            <a:r>
              <a:rPr lang="en-US" sz="1400" dirty="0">
                <a:solidFill>
                  <a:srgbClr val="404040"/>
                </a:solidFill>
                <a:latin typeface="Times New Roman" pitchFamily="18" charset="0"/>
                <a:cs typeface="Times New Roman" pitchFamily="18" charset="0"/>
              </a:rPr>
              <a:t>from data </a:t>
            </a:r>
            <a:r>
              <a:rPr lang="en-US" sz="1400" dirty="0" smtClean="0">
                <a:solidFill>
                  <a:srgbClr val="404040"/>
                </a:solidFill>
                <a:latin typeface="Times New Roman" pitchFamily="18" charset="0"/>
                <a:cs typeface="Times New Roman" pitchFamily="18" charset="0"/>
              </a:rPr>
              <a:t>frame</a:t>
            </a:r>
            <a:r>
              <a:rPr lang="en-US" sz="1400" dirty="0">
                <a:solidFill>
                  <a:srgbClr val="404040"/>
                </a:solidFill>
                <a:latin typeface="Times New Roman" pitchFamily="18" charset="0"/>
                <a:cs typeface="Times New Roman" pitchFamily="18" charset="0"/>
              </a:rPr>
              <a:t>s</a:t>
            </a:r>
            <a:r>
              <a:rPr lang="en-US" sz="1400" dirty="0" smtClean="0">
                <a:solidFill>
                  <a:srgbClr val="404040"/>
                </a:solidFill>
                <a:latin typeface="Times New Roman" pitchFamily="18" charset="0"/>
                <a:cs typeface="Times New Roman" pitchFamily="18" charset="0"/>
              </a:rPr>
              <a:t> </a:t>
            </a:r>
            <a:r>
              <a:rPr lang="en-US" sz="1400" dirty="0" err="1" smtClean="0">
                <a:solidFill>
                  <a:srgbClr val="404040"/>
                </a:solidFill>
                <a:latin typeface="Times New Roman" pitchFamily="18" charset="0"/>
                <a:cs typeface="Times New Roman" pitchFamily="18" charset="0"/>
              </a:rPr>
              <a:t>factor_df</a:t>
            </a:r>
            <a:r>
              <a:rPr lang="en-US" sz="1400" dirty="0">
                <a:solidFill>
                  <a:srgbClr val="404040"/>
                </a:solidFill>
                <a:latin typeface="Times New Roman" pitchFamily="18" charset="0"/>
                <a:cs typeface="Times New Roman" pitchFamily="18" charset="0"/>
              </a:rPr>
              <a:t> and </a:t>
            </a:r>
            <a:r>
              <a:rPr lang="en-US" sz="1400" dirty="0" err="1" smtClean="0">
                <a:solidFill>
                  <a:srgbClr val="404040"/>
                </a:solidFill>
                <a:latin typeface="Times New Roman" pitchFamily="18" charset="0"/>
                <a:cs typeface="Times New Roman" pitchFamily="18" charset="0"/>
              </a:rPr>
              <a:t>imputed_handle_MD_df_final</a:t>
            </a:r>
            <a:r>
              <a:rPr lang="en-US" sz="1400" dirty="0">
                <a:solidFill>
                  <a:srgbClr val="404040"/>
                </a:solidFill>
                <a:latin typeface="Times New Roman" pitchFamily="18" charset="0"/>
                <a:cs typeface="Times New Roman" pitchFamily="18" charset="0"/>
              </a:rPr>
              <a:t> q.v. </a:t>
            </a:r>
            <a:r>
              <a:rPr kumimoji="0" lang="en-US" sz="1400" b="0" i="0" u="none" strike="noStrike" cap="none" normalizeH="0" baseline="0" dirty="0" smtClean="0">
                <a:ln>
                  <a:noFill/>
                </a:ln>
                <a:solidFill>
                  <a:srgbClr val="404040"/>
                </a:solidFill>
                <a:effectLst/>
                <a:latin typeface="Times New Roman" pitchFamily="18" charset="0"/>
                <a:cs typeface="Times New Roman" pitchFamily="18" charset="0"/>
              </a:rPr>
              <a:t>practice 1)</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r>
            <a:b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b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Source</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r>
              <a:rPr kumimoji="0" lang="ru-RU" sz="1400" b="0" i="0" u="none" strike="noStrike" cap="none" normalizeH="0" baseline="0" dirty="0" err="1" smtClean="0">
                <a:ln>
                  <a:noFill/>
                </a:ln>
                <a:solidFill>
                  <a:srgbClr val="404040"/>
                </a:solidFill>
                <a:effectLst/>
                <a:latin typeface="Times New Roman" pitchFamily="18" charset="0"/>
                <a:cs typeface="Times New Roman" pitchFamily="18" charset="0"/>
              </a:rPr>
              <a:t>Internal</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r>
              <a:rPr kumimoji="0" lang="ru-RU" sz="1400" b="0" i="0" u="none" strike="noStrike" cap="none" normalizeH="0" baseline="0" dirty="0" err="1" smtClean="0">
                <a:ln>
                  <a:noFill/>
                </a:ln>
                <a:solidFill>
                  <a:srgbClr val="404040"/>
                </a:solidFill>
                <a:effectLst/>
                <a:latin typeface="Times New Roman" pitchFamily="18" charset="0"/>
                <a:cs typeface="Times New Roman" pitchFamily="18" charset="0"/>
              </a:rPr>
              <a:t>company</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r>
              <a:rPr kumimoji="0" lang="ru-RU" sz="1400" b="0" i="0" u="none" strike="noStrike" cap="none" normalizeH="0" baseline="0" dirty="0" err="1" smtClean="0">
                <a:ln>
                  <a:noFill/>
                </a:ln>
                <a:solidFill>
                  <a:srgbClr val="404040"/>
                </a:solidFill>
                <a:effectLst/>
                <a:latin typeface="Times New Roman" pitchFamily="18" charset="0"/>
                <a:cs typeface="Times New Roman" pitchFamily="18" charset="0"/>
              </a:rPr>
              <a:t>database</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r>
            <a:b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b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Size</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r>
              <a:rPr lang="en-US" sz="1400" dirty="0"/>
              <a:t>1148 obs. of 31 </a:t>
            </a:r>
            <a:r>
              <a:rPr lang="en-US" sz="1400" dirty="0" smtClean="0"/>
              <a:t>variables</a:t>
            </a:r>
          </a:p>
          <a:p>
            <a:pPr lvl="0" fontAlgn="base">
              <a:spcBef>
                <a:spcPct val="0"/>
              </a:spcBef>
              <a:spcAft>
                <a:spcPct val="0"/>
              </a:spcAft>
            </a:pP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Format</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CSV</a:t>
            </a:r>
            <a:b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b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Columns</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a:t>
            </a:r>
            <a:endParaRPr kumimoji="0" lang="ru-RU" sz="1400" b="0" i="0" u="none" strike="noStrike" cap="none" normalizeH="0" baseline="0" dirty="0" smtClean="0">
              <a:ln>
                <a:noFill/>
              </a:ln>
              <a:solidFill>
                <a:schemeClr val="tx1"/>
              </a:solidFill>
              <a:effectLst/>
              <a:latin typeface="Times New Roman" pitchFamily="18" charset="0"/>
              <a:cs typeface="Times New Roman" pitchFamily="18" charset="0"/>
            </a:endParaRPr>
          </a:p>
          <a:p>
            <a:r>
              <a:rPr lang="en-US" sz="800" dirty="0" err="1"/>
              <a:t>record_id</a:t>
            </a:r>
            <a:r>
              <a:rPr lang="en-US" sz="800" dirty="0"/>
              <a:t>  (</a:t>
            </a:r>
            <a:r>
              <a:rPr lang="en-US" sz="800" dirty="0" err="1"/>
              <a:t>int</a:t>
            </a:r>
            <a:r>
              <a:rPr lang="en-US" sz="800" dirty="0"/>
              <a:t>) Unique order identifier</a:t>
            </a:r>
            <a:endParaRPr lang="ru-RU" sz="800" dirty="0"/>
          </a:p>
          <a:p>
            <a:r>
              <a:rPr lang="en-US" sz="800" dirty="0"/>
              <a:t>outcome   (</a:t>
            </a:r>
            <a:r>
              <a:rPr lang="en-US" sz="800" dirty="0" err="1"/>
              <a:t>int</a:t>
            </a:r>
            <a:r>
              <a:rPr lang="en-US" sz="800" dirty="0"/>
              <a:t>) Presence of a tumor</a:t>
            </a:r>
            <a:endParaRPr lang="ru-RU" sz="800" dirty="0"/>
          </a:p>
          <a:p>
            <a:r>
              <a:rPr lang="en-US" sz="800" dirty="0"/>
              <a:t>hormone1 (</a:t>
            </a:r>
            <a:r>
              <a:rPr lang="en-US" sz="800" dirty="0" err="1"/>
              <a:t>num</a:t>
            </a:r>
            <a:r>
              <a:rPr lang="en-US" sz="800" dirty="0"/>
              <a:t>) result of hormone 1 level assessment</a:t>
            </a:r>
            <a:endParaRPr lang="ru-RU" sz="800" dirty="0"/>
          </a:p>
          <a:p>
            <a:r>
              <a:rPr lang="en-US" sz="800" dirty="0"/>
              <a:t>…</a:t>
            </a:r>
            <a:endParaRPr lang="ru-RU" sz="800" dirty="0"/>
          </a:p>
          <a:p>
            <a:r>
              <a:rPr lang="en-US" sz="800" dirty="0"/>
              <a:t>hormone4 (</a:t>
            </a:r>
            <a:r>
              <a:rPr lang="en-US" sz="800" dirty="0" err="1"/>
              <a:t>num</a:t>
            </a:r>
            <a:r>
              <a:rPr lang="en-US" sz="800" dirty="0"/>
              <a:t>) result of hormone 4 level assessment</a:t>
            </a:r>
            <a:endParaRPr lang="ru-RU" sz="800" dirty="0"/>
          </a:p>
          <a:p>
            <a:r>
              <a:rPr lang="en-US" sz="800" dirty="0"/>
              <a:t>h_index_34 (</a:t>
            </a:r>
            <a:r>
              <a:rPr lang="en-US" sz="800" dirty="0" err="1"/>
              <a:t>num</a:t>
            </a:r>
            <a:r>
              <a:rPr lang="en-US" sz="800" dirty="0"/>
              <a:t>) index (hormonal ratio)</a:t>
            </a:r>
            <a:endParaRPr lang="ru-RU" sz="800" dirty="0"/>
          </a:p>
          <a:p>
            <a:r>
              <a:rPr lang="en-US" sz="800" dirty="0"/>
              <a:t>…</a:t>
            </a:r>
            <a:endParaRPr lang="ru-RU" sz="800" dirty="0"/>
          </a:p>
          <a:p>
            <a:r>
              <a:rPr lang="en-US" sz="800" dirty="0" smtClean="0"/>
              <a:t>…</a:t>
            </a:r>
            <a:endParaRPr lang="ru-RU" sz="800" dirty="0"/>
          </a:p>
          <a:p>
            <a:r>
              <a:rPr lang="en-US" sz="800" dirty="0"/>
              <a:t>antioxidant5 (</a:t>
            </a:r>
            <a:r>
              <a:rPr lang="en-US" sz="800" dirty="0" err="1"/>
              <a:t>num</a:t>
            </a:r>
            <a:r>
              <a:rPr lang="en-US" sz="800" dirty="0"/>
              <a:t>) result of antioxidant 5 level assessment</a:t>
            </a:r>
            <a:endParaRPr lang="ru-RU" sz="800" dirty="0"/>
          </a:p>
          <a:p>
            <a:r>
              <a:rPr lang="en-US" sz="800" dirty="0" err="1"/>
              <a:t>factor_eth</a:t>
            </a:r>
            <a:r>
              <a:rPr lang="en-US" sz="800" dirty="0"/>
              <a:t> </a:t>
            </a:r>
            <a:r>
              <a:rPr lang="en-US" sz="800" dirty="0" smtClean="0"/>
              <a:t>(</a:t>
            </a:r>
            <a:r>
              <a:rPr lang="en-US" sz="800" dirty="0" err="1" smtClean="0"/>
              <a:t>int</a:t>
            </a:r>
            <a:r>
              <a:rPr lang="en-US" sz="800" dirty="0" smtClean="0"/>
              <a:t>) ) </a:t>
            </a:r>
            <a:r>
              <a:rPr lang="en-US" sz="800" dirty="0"/>
              <a:t>Ethnicity</a:t>
            </a:r>
            <a:endParaRPr lang="ru-RU" sz="800" dirty="0"/>
          </a:p>
          <a:p>
            <a:r>
              <a:rPr lang="en-US" sz="800" dirty="0" err="1"/>
              <a:t>factor_h</a:t>
            </a:r>
            <a:r>
              <a:rPr lang="en-US" sz="800" dirty="0"/>
              <a:t> </a:t>
            </a:r>
            <a:r>
              <a:rPr lang="en-US" sz="800" dirty="0" smtClean="0"/>
              <a:t>(</a:t>
            </a:r>
            <a:r>
              <a:rPr lang="en-US" sz="800" dirty="0" err="1" smtClean="0"/>
              <a:t>int</a:t>
            </a:r>
            <a:r>
              <a:rPr lang="en-US" sz="800" dirty="0" smtClean="0"/>
              <a:t>) </a:t>
            </a:r>
            <a:r>
              <a:rPr lang="en-US" sz="800" dirty="0"/>
              <a:t>Increased </a:t>
            </a:r>
            <a:r>
              <a:rPr lang="en-US" sz="800" dirty="0" smtClean="0"/>
              <a:t>hormones</a:t>
            </a:r>
            <a:endParaRPr lang="ru-RU" sz="800" dirty="0"/>
          </a:p>
          <a:p>
            <a:r>
              <a:rPr lang="en-US" sz="800" dirty="0" err="1"/>
              <a:t>factor_pcos</a:t>
            </a:r>
            <a:r>
              <a:rPr lang="en-US" sz="800" dirty="0"/>
              <a:t> </a:t>
            </a:r>
            <a:r>
              <a:rPr lang="en-US" sz="800" dirty="0" smtClean="0"/>
              <a:t>(</a:t>
            </a:r>
            <a:r>
              <a:rPr lang="en-US" sz="800" dirty="0" err="1" smtClean="0"/>
              <a:t>int</a:t>
            </a:r>
            <a:r>
              <a:rPr lang="en-US" sz="800" dirty="0" smtClean="0"/>
              <a:t>) Diagnosis</a:t>
            </a:r>
            <a:endParaRPr lang="ru-RU" sz="800" dirty="0" smtClean="0"/>
          </a:p>
          <a:p>
            <a:r>
              <a:rPr lang="en-US" sz="800" dirty="0" err="1" smtClean="0"/>
              <a:t>factor_prl</a:t>
            </a:r>
            <a:r>
              <a:rPr lang="en-US" sz="800" dirty="0" smtClean="0"/>
              <a:t> (</a:t>
            </a:r>
            <a:r>
              <a:rPr lang="en-US" sz="800" dirty="0" err="1" smtClean="0"/>
              <a:t>int</a:t>
            </a:r>
            <a:r>
              <a:rPr lang="en-US" sz="800" dirty="0" smtClean="0"/>
              <a:t>)  </a:t>
            </a:r>
            <a:r>
              <a:rPr lang="en-US" sz="800" dirty="0"/>
              <a:t>Increased </a:t>
            </a:r>
            <a:r>
              <a:rPr lang="en-US" sz="800" dirty="0" smtClean="0"/>
              <a:t>hormone </a:t>
            </a:r>
            <a:endParaRPr lang="ru-RU" sz="800" dirty="0" smtClean="0"/>
          </a:p>
          <a:p>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Potential</a:t>
            </a:r>
            <a:r>
              <a:rPr kumimoji="0" lang="ru-RU" sz="1400" b="1" i="0" u="none" strike="noStrike" cap="none" normalizeH="0" baseline="0" dirty="0" smtClean="0">
                <a:ln>
                  <a:noFill/>
                </a:ln>
                <a:solidFill>
                  <a:srgbClr val="404040"/>
                </a:solidFill>
                <a:effectLst/>
                <a:latin typeface="Times New Roman" pitchFamily="18" charset="0"/>
                <a:cs typeface="Times New Roman" pitchFamily="18" charset="0"/>
              </a:rPr>
              <a:t> </a:t>
            </a:r>
            <a:r>
              <a:rPr kumimoji="0" lang="ru-RU" sz="1400" b="1" i="0" u="none" strike="noStrike" cap="none" normalizeH="0" baseline="0" dirty="0" err="1" smtClean="0">
                <a:ln>
                  <a:noFill/>
                </a:ln>
                <a:solidFill>
                  <a:srgbClr val="404040"/>
                </a:solidFill>
                <a:effectLst/>
                <a:latin typeface="Times New Roman" pitchFamily="18" charset="0"/>
                <a:cs typeface="Times New Roman" pitchFamily="18" charset="0"/>
              </a:rPr>
              <a:t>Use</a:t>
            </a:r>
            <a:r>
              <a:rPr kumimoji="0" lang="en-US" sz="1400" b="1" i="0" u="none" strike="noStrike" cap="none" normalizeH="0" baseline="0" dirty="0" smtClean="0">
                <a:ln>
                  <a:noFill/>
                </a:ln>
                <a:solidFill>
                  <a:srgbClr val="404040"/>
                </a:solidFill>
                <a:effectLst/>
                <a:latin typeface="Times New Roman" pitchFamily="18" charset="0"/>
                <a:cs typeface="Times New Roman" pitchFamily="18" charset="0"/>
              </a:rPr>
              <a:t> for the</a:t>
            </a:r>
            <a:r>
              <a:rPr kumimoji="0" lang="en-US" sz="1400" b="1" i="0" u="none" strike="noStrike" cap="none" normalizeH="0" dirty="0" smtClean="0">
                <a:ln>
                  <a:noFill/>
                </a:ln>
                <a:solidFill>
                  <a:srgbClr val="404040"/>
                </a:solidFill>
                <a:effectLst/>
                <a:latin typeface="Times New Roman" pitchFamily="18" charset="0"/>
                <a:cs typeface="Times New Roman" pitchFamily="18" charset="0"/>
              </a:rPr>
              <a:t> Practical class </a:t>
            </a:r>
            <a:r>
              <a:rPr kumimoji="0" lang="ru-RU" sz="1400" b="1" i="0" u="none" strike="noStrike" cap="none" normalizeH="0" dirty="0" smtClean="0">
                <a:ln>
                  <a:noFill/>
                </a:ln>
                <a:solidFill>
                  <a:srgbClr val="404040"/>
                </a:solidFill>
                <a:effectLst/>
                <a:latin typeface="Times New Roman" pitchFamily="18" charset="0"/>
                <a:cs typeface="Times New Roman" pitchFamily="18" charset="0"/>
              </a:rPr>
              <a:t>3</a:t>
            </a:r>
            <a:r>
              <a:rPr kumimoji="0" lang="ru-RU" sz="1400" b="0" i="0" u="none" strike="noStrike" cap="none" normalizeH="0" baseline="0" dirty="0" smtClean="0">
                <a:ln>
                  <a:noFill/>
                </a:ln>
                <a:solidFill>
                  <a:srgbClr val="404040"/>
                </a:solidFill>
                <a:effectLst/>
                <a:latin typeface="Times New Roman" pitchFamily="18" charset="0"/>
                <a:cs typeface="Times New Roman" pitchFamily="18" charset="0"/>
              </a:rPr>
              <a:t>: </a:t>
            </a:r>
          </a:p>
          <a:p>
            <a:r>
              <a:rPr lang="ru-RU" sz="1400" dirty="0">
                <a:solidFill>
                  <a:srgbClr val="404040"/>
                </a:solidFill>
                <a:latin typeface="Times New Roman" pitchFamily="18" charset="0"/>
                <a:cs typeface="Times New Roman" pitchFamily="18" charset="0"/>
              </a:rPr>
              <a:t>	</a:t>
            </a:r>
            <a:r>
              <a:rPr lang="en-US" sz="1400" dirty="0"/>
              <a:t> </a:t>
            </a:r>
            <a:r>
              <a:rPr lang="ru-RU" sz="1400" dirty="0" smtClean="0"/>
              <a:t> </a:t>
            </a:r>
            <a:r>
              <a:rPr lang="en-US" sz="1400" dirty="0" smtClean="0"/>
              <a:t>testing </a:t>
            </a:r>
            <a:r>
              <a:rPr lang="en-US" sz="1400" dirty="0"/>
              <a:t>of samples for normality of distribution law</a:t>
            </a:r>
            <a:r>
              <a:rPr lang="ru-RU" sz="1400" dirty="0" smtClean="0">
                <a:solidFill>
                  <a:srgbClr val="404040"/>
                </a:solidFill>
                <a:latin typeface="Times New Roman" pitchFamily="18" charset="0"/>
                <a:cs typeface="Times New Roman" pitchFamily="18" charset="0"/>
              </a:rPr>
              <a:t>;</a:t>
            </a:r>
          </a:p>
          <a:p>
            <a:r>
              <a:rPr kumimoji="0" lang="ru-RU" sz="1400" b="0" i="0" u="none" strike="noStrike" cap="none" normalizeH="0" baseline="0" dirty="0">
                <a:ln>
                  <a:noFill/>
                </a:ln>
                <a:solidFill>
                  <a:srgbClr val="404040"/>
                </a:solidFill>
                <a:effectLst/>
                <a:latin typeface="Times New Roman" pitchFamily="18" charset="0"/>
                <a:cs typeface="Times New Roman" pitchFamily="18" charset="0"/>
              </a:rPr>
              <a:t>	</a:t>
            </a:r>
            <a:r>
              <a:rPr lang="en-US" sz="1400" dirty="0"/>
              <a:t> </a:t>
            </a:r>
            <a:r>
              <a:rPr lang="ru-RU" sz="1400" dirty="0" smtClean="0"/>
              <a:t> </a:t>
            </a:r>
            <a:r>
              <a:rPr lang="en-US" sz="1400" dirty="0" smtClean="0"/>
              <a:t>selection </a:t>
            </a:r>
            <a:r>
              <a:rPr lang="en-US" sz="1400" dirty="0"/>
              <a:t>of the appropriate method for calculating the correlation coefficient</a:t>
            </a:r>
            <a:r>
              <a:rPr lang="ru-RU" sz="1400" dirty="0" smtClean="0">
                <a:solidFill>
                  <a:srgbClr val="404040"/>
                </a:solidFill>
                <a:latin typeface="Times New Roman" pitchFamily="18" charset="0"/>
                <a:cs typeface="Times New Roman" pitchFamily="18" charset="0"/>
              </a:rPr>
              <a:t>;</a:t>
            </a:r>
          </a:p>
          <a:p>
            <a:r>
              <a:rPr lang="ru-RU" sz="1400" dirty="0" smtClean="0">
                <a:solidFill>
                  <a:srgbClr val="404040"/>
                </a:solidFill>
                <a:latin typeface="Times New Roman" pitchFamily="18" charset="0"/>
                <a:cs typeface="Times New Roman" pitchFamily="18" charset="0"/>
              </a:rPr>
              <a:t>	  </a:t>
            </a:r>
            <a:r>
              <a:rPr lang="en-US" sz="1400" dirty="0" smtClean="0">
                <a:solidFill>
                  <a:srgbClr val="404040"/>
                </a:solidFill>
                <a:latin typeface="Times New Roman" pitchFamily="18" charset="0"/>
                <a:cs typeface="Times New Roman" pitchFamily="18" charset="0"/>
              </a:rPr>
              <a:t>regression analysis</a:t>
            </a:r>
            <a:r>
              <a:rPr lang="ru-RU" sz="1400" dirty="0" smtClean="0">
                <a:solidFill>
                  <a:srgbClr val="404040"/>
                </a:solidFill>
                <a:latin typeface="Times New Roman" pitchFamily="18" charset="0"/>
                <a:cs typeface="Times New Roman" pitchFamily="18" charset="0"/>
              </a:rPr>
              <a:t> (</a:t>
            </a:r>
            <a:r>
              <a:rPr lang="en-US" sz="1400" dirty="0">
                <a:solidFill>
                  <a:srgbClr val="404040"/>
                </a:solidFill>
                <a:latin typeface="Times New Roman" pitchFamily="18" charset="0"/>
                <a:cs typeface="Times New Roman" pitchFamily="18" charset="0"/>
              </a:rPr>
              <a:t>linear </a:t>
            </a:r>
            <a:r>
              <a:rPr lang="en-US" sz="1400" dirty="0" smtClean="0">
                <a:solidFill>
                  <a:srgbClr val="404040"/>
                </a:solidFill>
                <a:latin typeface="Times New Roman" pitchFamily="18" charset="0"/>
                <a:cs typeface="Times New Roman" pitchFamily="18" charset="0"/>
              </a:rPr>
              <a:t>regression</a:t>
            </a:r>
            <a:r>
              <a:rPr lang="ru-RU" sz="1400" dirty="0" smtClean="0">
                <a:solidFill>
                  <a:srgbClr val="404040"/>
                </a:solidFill>
                <a:latin typeface="Times New Roman" pitchFamily="18" charset="0"/>
                <a:cs typeface="Times New Roman" pitchFamily="18" charset="0"/>
              </a:rPr>
              <a:t>, </a:t>
            </a:r>
            <a:r>
              <a:rPr lang="en-US" sz="1400" dirty="0">
                <a:solidFill>
                  <a:srgbClr val="404040"/>
                </a:solidFill>
                <a:latin typeface="Times New Roman" pitchFamily="18" charset="0"/>
                <a:cs typeface="Times New Roman" pitchFamily="18" charset="0"/>
              </a:rPr>
              <a:t>second degree </a:t>
            </a:r>
            <a:r>
              <a:rPr lang="en-US" sz="1400" dirty="0" err="1" smtClean="0">
                <a:solidFill>
                  <a:srgbClr val="404040"/>
                </a:solidFill>
                <a:latin typeface="Times New Roman" pitchFamily="18" charset="0"/>
                <a:cs typeface="Times New Roman" pitchFamily="18" charset="0"/>
              </a:rPr>
              <a:t>polynomal</a:t>
            </a:r>
            <a:r>
              <a:rPr lang="ru-RU" sz="1400" dirty="0" smtClean="0">
                <a:solidFill>
                  <a:srgbClr val="404040"/>
                </a:solidFill>
                <a:latin typeface="Times New Roman" pitchFamily="18" charset="0"/>
                <a:cs typeface="Times New Roman" pitchFamily="18" charset="0"/>
              </a:rPr>
              <a:t>, </a:t>
            </a:r>
            <a:r>
              <a:rPr lang="en-US" sz="1400" dirty="0">
                <a:solidFill>
                  <a:srgbClr val="404040"/>
                </a:solidFill>
                <a:latin typeface="Times New Roman" pitchFamily="18" charset="0"/>
                <a:cs typeface="Times New Roman" pitchFamily="18" charset="0"/>
              </a:rPr>
              <a:t>third degree </a:t>
            </a:r>
            <a:r>
              <a:rPr lang="en-US" sz="1400" dirty="0" err="1" smtClean="0">
                <a:solidFill>
                  <a:srgbClr val="404040"/>
                </a:solidFill>
                <a:latin typeface="Times New Roman" pitchFamily="18" charset="0"/>
                <a:cs typeface="Times New Roman" pitchFamily="18" charset="0"/>
              </a:rPr>
              <a:t>polynomal</a:t>
            </a:r>
            <a:r>
              <a:rPr lang="ru-RU" sz="1400" dirty="0" smtClean="0">
                <a:solidFill>
                  <a:srgbClr val="404040"/>
                </a:solidFill>
                <a:latin typeface="Times New Roman" pitchFamily="18" charset="0"/>
                <a:cs typeface="Times New Roman" pitchFamily="18" charset="0"/>
              </a:rPr>
              <a:t>, 	  </a:t>
            </a:r>
            <a:r>
              <a:rPr lang="en-US" sz="1400" dirty="0" smtClean="0">
                <a:solidFill>
                  <a:srgbClr val="404040"/>
                </a:solidFill>
                <a:latin typeface="Times New Roman" pitchFamily="18" charset="0"/>
                <a:cs typeface="Times New Roman" pitchFamily="18" charset="0"/>
              </a:rPr>
              <a:t>exponential dependence</a:t>
            </a:r>
            <a:r>
              <a:rPr lang="ru-RU" sz="1400" dirty="0" smtClean="0">
                <a:solidFill>
                  <a:srgbClr val="404040"/>
                </a:solidFill>
                <a:latin typeface="Times New Roman" pitchFamily="18" charset="0"/>
                <a:cs typeface="Times New Roman" pitchFamily="18" charset="0"/>
              </a:rPr>
              <a:t>, </a:t>
            </a:r>
            <a:r>
              <a:rPr lang="en-US" sz="1400" dirty="0">
                <a:solidFill>
                  <a:srgbClr val="404040"/>
                </a:solidFill>
                <a:latin typeface="Times New Roman" pitchFamily="18" charset="0"/>
                <a:cs typeface="Times New Roman" pitchFamily="18" charset="0"/>
              </a:rPr>
              <a:t>log </a:t>
            </a:r>
            <a:r>
              <a:rPr lang="en-US" sz="1400" dirty="0" smtClean="0">
                <a:solidFill>
                  <a:srgbClr val="404040"/>
                </a:solidFill>
                <a:latin typeface="Times New Roman" pitchFamily="18" charset="0"/>
                <a:cs typeface="Times New Roman" pitchFamily="18" charset="0"/>
              </a:rPr>
              <a:t>dependence</a:t>
            </a:r>
            <a:r>
              <a:rPr lang="ru-RU" sz="1400" dirty="0" smtClean="0">
                <a:solidFill>
                  <a:srgbClr val="404040"/>
                </a:solidFill>
                <a:latin typeface="Times New Roman" pitchFamily="18" charset="0"/>
                <a:cs typeface="Times New Roman" pitchFamily="18" charset="0"/>
              </a:rPr>
              <a:t>)</a:t>
            </a:r>
          </a:p>
          <a:p>
            <a:r>
              <a:rPr lang="ru-RU" sz="1400" dirty="0">
                <a:solidFill>
                  <a:srgbClr val="404040"/>
                </a:solidFill>
                <a:latin typeface="Times New Roman" pitchFamily="18" charset="0"/>
                <a:cs typeface="Times New Roman" pitchFamily="18" charset="0"/>
              </a:rPr>
              <a:t>	</a:t>
            </a:r>
            <a:r>
              <a:rPr lang="ru-RU" sz="1400" dirty="0" smtClean="0">
                <a:solidFill>
                  <a:srgbClr val="404040"/>
                </a:solidFill>
                <a:latin typeface="Times New Roman" pitchFamily="18" charset="0"/>
                <a:cs typeface="Times New Roman" pitchFamily="18" charset="0"/>
              </a:rPr>
              <a:t>  </a:t>
            </a:r>
            <a:r>
              <a:rPr lang="en-US" sz="1400" dirty="0" smtClean="0">
                <a:solidFill>
                  <a:srgbClr val="404040"/>
                </a:solidFill>
                <a:latin typeface="Times New Roman" pitchFamily="18" charset="0"/>
                <a:cs typeface="Times New Roman" pitchFamily="18" charset="0"/>
              </a:rPr>
              <a:t>BIC</a:t>
            </a:r>
            <a:endParaRPr kumimoji="0" lang="en-US" sz="1400" b="0" i="0" u="none" strike="noStrike" cap="none" normalizeH="0" baseline="0" dirty="0" smtClean="0">
              <a:ln>
                <a:noFill/>
              </a:ln>
              <a:solidFill>
                <a:srgbClr val="404040"/>
              </a:solidFill>
              <a:effectLst/>
              <a:latin typeface="Times New Roman" pitchFamily="18" charset="0"/>
              <a:cs typeface="Times New Roman" pitchFamily="18" charset="0"/>
            </a:endParaRPr>
          </a:p>
          <a:p>
            <a:r>
              <a:rPr kumimoji="0" lang="en-US" sz="1400" b="0" i="0" u="none" strike="noStrike" cap="none" normalizeH="0" dirty="0" smtClean="0">
                <a:ln>
                  <a:noFill/>
                </a:ln>
                <a:solidFill>
                  <a:srgbClr val="404040"/>
                </a:solidFill>
                <a:effectLst/>
                <a:latin typeface="Times New Roman" pitchFamily="18" charset="0"/>
                <a:cs typeface="Times New Roman" pitchFamily="18" charset="0"/>
              </a:rPr>
              <a:t> </a:t>
            </a:r>
            <a:endParaRPr lang="ru-RU" sz="1400" dirty="0">
              <a:solidFill>
                <a:srgbClr val="404040"/>
              </a:solidFill>
              <a:latin typeface="Times New Roman" pitchFamily="18" charset="0"/>
              <a:cs typeface="Times New Roman" pitchFamily="18" charset="0"/>
            </a:endParaRPr>
          </a:p>
        </p:txBody>
      </p:sp>
      <p:sp>
        <p:nvSpPr>
          <p:cNvPr id="2" name="Номер слайда 1"/>
          <p:cNvSpPr>
            <a:spLocks noGrp="1"/>
          </p:cNvSpPr>
          <p:nvPr>
            <p:ph type="sldNum" sz="quarter" idx="12"/>
          </p:nvPr>
        </p:nvSpPr>
        <p:spPr/>
        <p:txBody>
          <a:bodyPr/>
          <a:lstStyle/>
          <a:p>
            <a:fld id="{B676878C-2127-40CF-8B63-88FA79C4AE39}" type="slidenum">
              <a:rPr lang="ru-RU" smtClean="0"/>
              <a:t>3</a:t>
            </a:fld>
            <a:endParaRPr lang="ru-RU"/>
          </a:p>
        </p:txBody>
      </p:sp>
    </p:spTree>
    <p:extLst>
      <p:ext uri="{BB962C8B-B14F-4D97-AF65-F5344CB8AC3E}">
        <p14:creationId xmlns:p14="http://schemas.microsoft.com/office/powerpoint/2010/main" val="1922051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en-US" sz="4000" kern="1200" dirty="0">
                <a:solidFill>
                  <a:schemeClr val="accent1">
                    <a:lumMod val="75000"/>
                  </a:schemeClr>
                </a:solidFill>
                <a:latin typeface="+mn-lt"/>
                <a:ea typeface="+mn-ea"/>
                <a:cs typeface="+mn-cs"/>
              </a:rPr>
              <a:t>Correlation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2" name="Прямоугольник 1"/>
          <p:cNvSpPr/>
          <p:nvPr/>
        </p:nvSpPr>
        <p:spPr>
          <a:xfrm>
            <a:off x="529224" y="1923678"/>
            <a:ext cx="7920880" cy="646331"/>
          </a:xfrm>
          <a:prstGeom prst="rect">
            <a:avLst/>
          </a:prstGeom>
        </p:spPr>
        <p:txBody>
          <a:bodyPr wrap="square">
            <a:spAutoFit/>
          </a:bodyPr>
          <a:lstStyle/>
          <a:p>
            <a:r>
              <a:rPr lang="en-US" dirty="0"/>
              <a:t>Correlation analysis with testing of samples for normality of distribution law and selection of the appropriate method for calculating the correlation coefficient.</a:t>
            </a:r>
            <a:endParaRPr lang="ru-RU" dirty="0"/>
          </a:p>
        </p:txBody>
      </p:sp>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059582"/>
            <a:ext cx="6528967" cy="695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2689939"/>
            <a:ext cx="2974851" cy="189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96088" y="2689939"/>
            <a:ext cx="2997285" cy="2146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187624" y="4820334"/>
            <a:ext cx="7825422" cy="276999"/>
          </a:xfrm>
          <a:prstGeom prst="rect">
            <a:avLst/>
          </a:prstGeom>
          <a:noFill/>
        </p:spPr>
        <p:txBody>
          <a:bodyPr wrap="square" rtlCol="0">
            <a:spAutoFit/>
          </a:bodyPr>
          <a:lstStyle/>
          <a:p>
            <a:r>
              <a:rPr lang="en-US" sz="1200" dirty="0"/>
              <a:t>The </a:t>
            </a:r>
            <a:r>
              <a:rPr lang="en-US" sz="1200" b="1" dirty="0"/>
              <a:t>Shapiro-</a:t>
            </a:r>
            <a:r>
              <a:rPr lang="en-US" sz="1200" b="1" dirty="0" err="1"/>
              <a:t>Wilk</a:t>
            </a:r>
            <a:r>
              <a:rPr lang="en-US" sz="1200" b="1" dirty="0"/>
              <a:t> test</a:t>
            </a:r>
            <a:r>
              <a:rPr lang="en-US" sz="1200" dirty="0"/>
              <a:t> (W = 0.958, p &lt; 0.001) indicates </a:t>
            </a:r>
            <a:r>
              <a:rPr lang="en-US" sz="1200" b="1" dirty="0"/>
              <a:t>strong evidence of non-normality</a:t>
            </a:r>
            <a:r>
              <a:rPr lang="en-US" sz="1200" dirty="0"/>
              <a:t> for data$lipids1</a:t>
            </a:r>
            <a:endParaRPr lang="ru-RU" sz="1200" dirty="0"/>
          </a:p>
        </p:txBody>
      </p:sp>
      <p:sp>
        <p:nvSpPr>
          <p:cNvPr id="3" name="Номер слайда 2"/>
          <p:cNvSpPr>
            <a:spLocks noGrp="1"/>
          </p:cNvSpPr>
          <p:nvPr>
            <p:ph type="sldNum" sz="quarter" idx="12"/>
          </p:nvPr>
        </p:nvSpPr>
        <p:spPr/>
        <p:txBody>
          <a:bodyPr/>
          <a:lstStyle/>
          <a:p>
            <a:fld id="{B676878C-2127-40CF-8B63-88FA79C4AE39}" type="slidenum">
              <a:rPr lang="ru-RU" smtClean="0"/>
              <a:t>4</a:t>
            </a:fld>
            <a:endParaRPr lang="ru-RU"/>
          </a:p>
        </p:txBody>
      </p:sp>
    </p:spTree>
    <p:extLst>
      <p:ext uri="{BB962C8B-B14F-4D97-AF65-F5344CB8AC3E}">
        <p14:creationId xmlns:p14="http://schemas.microsoft.com/office/powerpoint/2010/main" val="2925483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en-US" sz="4000" kern="1200" dirty="0">
                <a:solidFill>
                  <a:schemeClr val="accent1">
                    <a:lumMod val="75000"/>
                  </a:schemeClr>
                </a:solidFill>
                <a:latin typeface="+mn-lt"/>
                <a:ea typeface="+mn-ea"/>
                <a:cs typeface="+mn-cs"/>
              </a:rPr>
              <a:t>Correlation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2" name="Прямоугольник 1"/>
          <p:cNvSpPr/>
          <p:nvPr/>
        </p:nvSpPr>
        <p:spPr>
          <a:xfrm>
            <a:off x="611560" y="1059582"/>
            <a:ext cx="7920880" cy="646331"/>
          </a:xfrm>
          <a:prstGeom prst="rect">
            <a:avLst/>
          </a:prstGeom>
        </p:spPr>
        <p:txBody>
          <a:bodyPr wrap="square">
            <a:spAutoFit/>
          </a:bodyPr>
          <a:lstStyle/>
          <a:p>
            <a:r>
              <a:rPr lang="en-US" dirty="0"/>
              <a:t>Correlation analysis with testing of samples for normality of distribution law and selection of the appropriate method for calculating the correlation coefficient.</a:t>
            </a:r>
            <a:endParaRPr lang="ru-RU"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936480"/>
            <a:ext cx="4197580"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Прямоугольник 2"/>
          <p:cNvSpPr/>
          <p:nvPr/>
        </p:nvSpPr>
        <p:spPr>
          <a:xfrm>
            <a:off x="2699792" y="3376640"/>
            <a:ext cx="4572000" cy="1477328"/>
          </a:xfrm>
          <a:prstGeom prst="rect">
            <a:avLst/>
          </a:prstGeom>
        </p:spPr>
        <p:txBody>
          <a:bodyPr>
            <a:spAutoFit/>
          </a:bodyPr>
          <a:lstStyle/>
          <a:p>
            <a:r>
              <a:rPr lang="en-US" dirty="0"/>
              <a:t>The </a:t>
            </a:r>
            <a:r>
              <a:rPr lang="en-US" b="1" dirty="0"/>
              <a:t>permutation test</a:t>
            </a:r>
            <a:r>
              <a:rPr lang="en-US" dirty="0"/>
              <a:t> is a non-parametric way to assess the reliability (stability) of statistical estimates (e.g., regression coefficients, model performance metrics) by randomly shuffling data and </a:t>
            </a:r>
            <a:r>
              <a:rPr lang="en-US" dirty="0" err="1"/>
              <a:t>recomputing</a:t>
            </a:r>
            <a:r>
              <a:rPr lang="en-US" dirty="0"/>
              <a:t> the statistic of interest.</a:t>
            </a:r>
            <a:endParaRPr lang="ru-RU" dirty="0"/>
          </a:p>
        </p:txBody>
      </p:sp>
      <p:sp>
        <p:nvSpPr>
          <p:cNvPr id="4" name="Номер слайда 3"/>
          <p:cNvSpPr>
            <a:spLocks noGrp="1"/>
          </p:cNvSpPr>
          <p:nvPr>
            <p:ph type="sldNum" sz="quarter" idx="12"/>
          </p:nvPr>
        </p:nvSpPr>
        <p:spPr/>
        <p:txBody>
          <a:bodyPr/>
          <a:lstStyle/>
          <a:p>
            <a:fld id="{B676878C-2127-40CF-8B63-88FA79C4AE39}" type="slidenum">
              <a:rPr lang="ru-RU" smtClean="0"/>
              <a:t>5</a:t>
            </a:fld>
            <a:endParaRPr lang="ru-RU"/>
          </a:p>
        </p:txBody>
      </p:sp>
    </p:spTree>
    <p:extLst>
      <p:ext uri="{BB962C8B-B14F-4D97-AF65-F5344CB8AC3E}">
        <p14:creationId xmlns:p14="http://schemas.microsoft.com/office/powerpoint/2010/main" val="125335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en-US" sz="4000" kern="1200" dirty="0">
                <a:solidFill>
                  <a:schemeClr val="accent1">
                    <a:lumMod val="75000"/>
                  </a:schemeClr>
                </a:solidFill>
                <a:latin typeface="+mn-lt"/>
                <a:ea typeface="+mn-ea"/>
                <a:cs typeface="+mn-cs"/>
              </a:rPr>
              <a:t>Correlation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5" name="TextBox 4"/>
          <p:cNvSpPr txBox="1"/>
          <p:nvPr/>
        </p:nvSpPr>
        <p:spPr>
          <a:xfrm>
            <a:off x="179513" y="987574"/>
            <a:ext cx="8856984" cy="4031873"/>
          </a:xfrm>
          <a:prstGeom prst="rect">
            <a:avLst/>
          </a:prstGeom>
          <a:noFill/>
        </p:spPr>
        <p:txBody>
          <a:bodyPr wrap="square" rtlCol="0">
            <a:spAutoFit/>
          </a:bodyPr>
          <a:lstStyle/>
          <a:p>
            <a:r>
              <a:rPr lang="en-US" sz="1600" b="1" dirty="0"/>
              <a:t>How to Apply Permutation for Reliability Assessment?</a:t>
            </a:r>
            <a:endParaRPr lang="en-US" sz="1600" dirty="0"/>
          </a:p>
          <a:p>
            <a:r>
              <a:rPr lang="en-US" sz="1600" b="1" dirty="0"/>
              <a:t>Objective:</a:t>
            </a:r>
            <a:endParaRPr lang="en-US" sz="1600" dirty="0"/>
          </a:p>
          <a:p>
            <a:pPr lvl="1"/>
            <a:r>
              <a:rPr lang="en-US" sz="1600" dirty="0"/>
              <a:t>Check if an observed statistic (e.g., correlation, model accuracy) is </a:t>
            </a:r>
            <a:r>
              <a:rPr lang="en-US" sz="1600" b="1" dirty="0"/>
              <a:t>reliable</a:t>
            </a:r>
            <a:r>
              <a:rPr lang="en-US" sz="1600" dirty="0"/>
              <a:t> or just due to random chance.</a:t>
            </a:r>
          </a:p>
          <a:p>
            <a:r>
              <a:rPr lang="en-US" sz="1600" b="1" dirty="0"/>
              <a:t>Steps:</a:t>
            </a:r>
            <a:endParaRPr lang="en-US" sz="1600" dirty="0"/>
          </a:p>
          <a:p>
            <a:pPr lvl="1"/>
            <a:r>
              <a:rPr lang="en-US" sz="1600" b="1" dirty="0"/>
              <a:t>(1) Compute the observed statistic</a:t>
            </a:r>
            <a:r>
              <a:rPr lang="en-US" sz="1600" dirty="0"/>
              <a:t> (e.g., correlation between X and Y).</a:t>
            </a:r>
          </a:p>
          <a:p>
            <a:pPr lvl="1"/>
            <a:r>
              <a:rPr lang="en-US" sz="1600" b="1" dirty="0"/>
              <a:t>(2) Permute the data:</a:t>
            </a:r>
            <a:r>
              <a:rPr lang="en-US" sz="1600" dirty="0"/>
              <a:t> Randomly shuffle Y (or X) to break any true relationship.</a:t>
            </a:r>
          </a:p>
          <a:p>
            <a:pPr lvl="1"/>
            <a:r>
              <a:rPr lang="en-US" sz="1600" b="1" dirty="0"/>
              <a:t>(3) </a:t>
            </a:r>
            <a:r>
              <a:rPr lang="en-US" sz="1600" b="1" dirty="0" err="1"/>
              <a:t>Recompute</a:t>
            </a:r>
            <a:r>
              <a:rPr lang="en-US" sz="1600" b="1" dirty="0"/>
              <a:t> the statistic</a:t>
            </a:r>
            <a:r>
              <a:rPr lang="en-US" sz="1600" dirty="0"/>
              <a:t> on permuted data.</a:t>
            </a:r>
          </a:p>
          <a:p>
            <a:pPr lvl="1"/>
            <a:r>
              <a:rPr lang="en-US" sz="1600" b="1" dirty="0"/>
              <a:t>(4) Repeat</a:t>
            </a:r>
            <a:r>
              <a:rPr lang="en-US" sz="1600" dirty="0"/>
              <a:t> (e.g., 1,000–10,000 times) to build a </a:t>
            </a:r>
            <a:r>
              <a:rPr lang="en-US" sz="1600" b="1" dirty="0"/>
              <a:t>null distribution</a:t>
            </a:r>
            <a:r>
              <a:rPr lang="en-US" sz="1600" dirty="0"/>
              <a:t>.</a:t>
            </a:r>
          </a:p>
          <a:p>
            <a:pPr lvl="1"/>
            <a:r>
              <a:rPr lang="en-US" sz="1600" b="1" dirty="0"/>
              <a:t>(5) Compare observed statistic to the null distribution:</a:t>
            </a:r>
            <a:endParaRPr lang="en-US" sz="1600" dirty="0"/>
          </a:p>
          <a:p>
            <a:pPr lvl="2"/>
            <a:r>
              <a:rPr lang="en-US" sz="1600" dirty="0"/>
              <a:t>If the observed value is extreme (e.g., in the top/bottom 5%), it suggests </a:t>
            </a:r>
            <a:r>
              <a:rPr lang="en-US" sz="1600" b="1" dirty="0"/>
              <a:t>reliability</a:t>
            </a:r>
            <a:r>
              <a:rPr lang="en-US" sz="1600" dirty="0"/>
              <a:t>.</a:t>
            </a:r>
          </a:p>
          <a:p>
            <a:r>
              <a:rPr lang="en-US" sz="1600" b="1" dirty="0"/>
              <a:t>Interpretation:</a:t>
            </a:r>
            <a:endParaRPr lang="en-US" sz="1600" dirty="0"/>
          </a:p>
          <a:p>
            <a:pPr lvl="1"/>
            <a:r>
              <a:rPr lang="en-US" sz="1600" b="1" dirty="0"/>
              <a:t>p-value</a:t>
            </a:r>
            <a:r>
              <a:rPr lang="en-US" sz="1600" dirty="0"/>
              <a:t> = Proportion of permuted stats ≥ observed stat.</a:t>
            </a:r>
          </a:p>
          <a:p>
            <a:pPr lvl="2"/>
            <a:r>
              <a:rPr lang="en-US" sz="1600" dirty="0"/>
              <a:t>*Low p-value (e.g., &lt; 0.05)* → The observed result is </a:t>
            </a:r>
            <a:r>
              <a:rPr lang="en-US" sz="1600" b="1" dirty="0"/>
              <a:t>unlikely due to chance</a:t>
            </a:r>
            <a:r>
              <a:rPr lang="en-US" sz="1600" dirty="0"/>
              <a:t> (reliable).</a:t>
            </a:r>
          </a:p>
          <a:p>
            <a:pPr lvl="2"/>
            <a:r>
              <a:rPr lang="en-US" sz="1600" i="1" dirty="0"/>
              <a:t>High p-value</a:t>
            </a:r>
            <a:r>
              <a:rPr lang="en-US" sz="1600" dirty="0"/>
              <a:t> → The result could be due to randomness (unreliable).</a:t>
            </a:r>
          </a:p>
          <a:p>
            <a:endParaRPr lang="ru-RU" sz="1600" dirty="0"/>
          </a:p>
        </p:txBody>
      </p:sp>
      <p:sp>
        <p:nvSpPr>
          <p:cNvPr id="2" name="Номер слайда 1"/>
          <p:cNvSpPr>
            <a:spLocks noGrp="1"/>
          </p:cNvSpPr>
          <p:nvPr>
            <p:ph type="sldNum" sz="quarter" idx="12"/>
          </p:nvPr>
        </p:nvSpPr>
        <p:spPr/>
        <p:txBody>
          <a:bodyPr/>
          <a:lstStyle/>
          <a:p>
            <a:fld id="{B676878C-2127-40CF-8B63-88FA79C4AE39}" type="slidenum">
              <a:rPr lang="ru-RU" smtClean="0"/>
              <a:t>6</a:t>
            </a:fld>
            <a:endParaRPr lang="ru-RU"/>
          </a:p>
        </p:txBody>
      </p:sp>
    </p:spTree>
    <p:extLst>
      <p:ext uri="{BB962C8B-B14F-4D97-AF65-F5344CB8AC3E}">
        <p14:creationId xmlns:p14="http://schemas.microsoft.com/office/powerpoint/2010/main" val="250225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en-US" sz="4000" kern="1200" dirty="0">
                <a:solidFill>
                  <a:schemeClr val="accent1">
                    <a:lumMod val="75000"/>
                  </a:schemeClr>
                </a:solidFill>
                <a:latin typeface="+mn-lt"/>
                <a:ea typeface="+mn-ea"/>
                <a:cs typeface="+mn-cs"/>
              </a:rPr>
              <a:t>Correlation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dirty="0"/>
          </a:p>
        </p:txBody>
      </p:sp>
      <p:sp>
        <p:nvSpPr>
          <p:cNvPr id="2" name="Номер слайда 1"/>
          <p:cNvSpPr>
            <a:spLocks noGrp="1"/>
          </p:cNvSpPr>
          <p:nvPr>
            <p:ph type="sldNum" sz="quarter" idx="12"/>
          </p:nvPr>
        </p:nvSpPr>
        <p:spPr/>
        <p:txBody>
          <a:bodyPr/>
          <a:lstStyle/>
          <a:p>
            <a:fld id="{B676878C-2127-40CF-8B63-88FA79C4AE39}" type="slidenum">
              <a:rPr lang="ru-RU" smtClean="0"/>
              <a:t>7</a:t>
            </a:fld>
            <a:endParaRPr lang="ru-RU"/>
          </a:p>
        </p:txBody>
      </p:sp>
      <p:sp>
        <p:nvSpPr>
          <p:cNvPr id="9" name="Rectangle 2"/>
          <p:cNvSpPr>
            <a:spLocks noChangeArrowheads="1"/>
          </p:cNvSpPr>
          <p:nvPr/>
        </p:nvSpPr>
        <p:spPr bwMode="auto">
          <a:xfrm>
            <a:off x="790870" y="1275606"/>
            <a:ext cx="748883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i="0" u="none" strike="noStrike" cap="none" normalizeH="0" baseline="0" dirty="0" err="1" smtClean="0">
                <a:ln>
                  <a:noFill/>
                </a:ln>
                <a:solidFill>
                  <a:srgbClr val="0F1115"/>
                </a:solidFill>
                <a:effectLst/>
                <a:ea typeface="Calibri" pitchFamily="34" charset="0"/>
                <a:cs typeface="Courier New" pitchFamily="49" charset="0"/>
              </a:rPr>
              <a:t>cor.test</a:t>
            </a:r>
            <a:r>
              <a:rPr kumimoji="0" lang="ru-RU" sz="2000" i="0" u="none" strike="noStrike" cap="none" normalizeH="0" baseline="0" dirty="0" smtClean="0">
                <a:ln>
                  <a:noFill/>
                </a:ln>
                <a:solidFill>
                  <a:srgbClr val="0F1115"/>
                </a:solidFill>
                <a:effectLst/>
                <a:ea typeface="Calibri" pitchFamily="34" charset="0"/>
                <a:cs typeface="Courier New" pitchFamily="49" charset="0"/>
              </a:rPr>
              <a:t>()</a:t>
            </a:r>
            <a:r>
              <a:rPr kumimoji="0" lang="en-US" sz="2000" i="0" u="none" strike="noStrike" cap="none" normalizeH="0" baseline="0" dirty="0" smtClean="0">
                <a:ln>
                  <a:noFill/>
                </a:ln>
                <a:solidFill>
                  <a:srgbClr val="0F1115"/>
                </a:solidFill>
                <a:effectLst/>
                <a:ea typeface="Calibri" pitchFamily="34" charset="0"/>
                <a:cs typeface="Segoe UI" pitchFamily="34" charset="0"/>
              </a:rPr>
              <a:t> gives an asymptotic p-value based on assumptions about the distribution</a:t>
            </a:r>
            <a:endParaRPr kumimoji="0" lang="ru-RU" sz="2000" i="0" u="none" strike="noStrike" cap="none" normalizeH="0" baseline="0" dirty="0" smtClean="0">
              <a:ln>
                <a:noFill/>
              </a:ln>
              <a:solidFill>
                <a:srgbClr val="0F1115"/>
              </a:solidFill>
              <a:effectLst/>
              <a:ea typeface="Calibri" pitchFamily="34" charset="0"/>
              <a:cs typeface="Segoe U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i="0" u="none" strike="noStrike" cap="none" normalizeH="0" baseline="0" dirty="0" smtClean="0">
                <a:ln>
                  <a:noFill/>
                </a:ln>
                <a:solidFill>
                  <a:srgbClr val="0F1115"/>
                </a:solidFill>
                <a:effectLst/>
                <a:ea typeface="Calibri" pitchFamily="34" charset="0"/>
                <a:cs typeface="Segoe UI" pitchFamily="34" charset="0"/>
              </a:rPr>
              <a:t/>
            </a:r>
            <a:br>
              <a:rPr kumimoji="0" lang="en-US" sz="2000" i="0" u="none" strike="noStrike" cap="none" normalizeH="0" baseline="0" dirty="0" smtClean="0">
                <a:ln>
                  <a:noFill/>
                </a:ln>
                <a:solidFill>
                  <a:srgbClr val="0F1115"/>
                </a:solidFill>
                <a:effectLst/>
                <a:ea typeface="Calibri" pitchFamily="34" charset="0"/>
                <a:cs typeface="Segoe UI" pitchFamily="34" charset="0"/>
              </a:rPr>
            </a:br>
            <a:r>
              <a:rPr kumimoji="0" lang="en-US" sz="2000" i="0" u="none" strike="noStrike" cap="none" normalizeH="0" baseline="0" dirty="0" err="1" smtClean="0">
                <a:ln>
                  <a:noFill/>
                </a:ln>
                <a:solidFill>
                  <a:srgbClr val="0F1115"/>
                </a:solidFill>
                <a:effectLst/>
                <a:ea typeface="Calibri" pitchFamily="34" charset="0"/>
                <a:cs typeface="Courier New" pitchFamily="49" charset="0"/>
              </a:rPr>
              <a:t>perm.relation</a:t>
            </a:r>
            <a:r>
              <a:rPr kumimoji="0" lang="ru-RU" sz="2000" i="0" u="none" strike="noStrike" cap="none" normalizeH="0" baseline="0" dirty="0" smtClean="0">
                <a:ln>
                  <a:noFill/>
                </a:ln>
                <a:solidFill>
                  <a:srgbClr val="0F1115"/>
                </a:solidFill>
                <a:effectLst/>
                <a:ea typeface="Calibri" pitchFamily="34" charset="0"/>
                <a:cs typeface="Courier New" pitchFamily="49" charset="0"/>
              </a:rPr>
              <a:t>()</a:t>
            </a:r>
            <a:r>
              <a:rPr kumimoji="0" lang="en-US" sz="2000" i="0" u="none" strike="noStrike" cap="none" normalizeH="0" baseline="0" dirty="0" smtClean="0">
                <a:ln>
                  <a:noFill/>
                </a:ln>
                <a:solidFill>
                  <a:srgbClr val="0F1115"/>
                </a:solidFill>
                <a:effectLst/>
                <a:ea typeface="Calibri" pitchFamily="34" charset="0"/>
                <a:cs typeface="Segoe UI" pitchFamily="34" charset="0"/>
              </a:rPr>
              <a:t> computes an exact (empirical) p-value by repeatedly shuffling the values of one variable (here, 10,000 times). This is useful for small sample sizes or when assumptions are violated, although with large datasets the results will be similar to those of the classical test.</a:t>
            </a:r>
            <a:endParaRPr kumimoji="0" lang="en-US" sz="2000" i="0" u="none" strike="noStrike" cap="none" normalizeH="0" baseline="0" dirty="0" smtClean="0">
              <a:ln>
                <a:noFill/>
              </a:ln>
              <a:solidFill>
                <a:schemeClr val="tx1"/>
              </a:solidFill>
              <a:effectLst/>
              <a:cs typeface="Arial" pitchFamily="34" charset="0"/>
            </a:endParaRPr>
          </a:p>
        </p:txBody>
      </p:sp>
    </p:spTree>
    <p:extLst>
      <p:ext uri="{BB962C8B-B14F-4D97-AF65-F5344CB8AC3E}">
        <p14:creationId xmlns:p14="http://schemas.microsoft.com/office/powerpoint/2010/main" val="971319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en-US" sz="4000" kern="1200" dirty="0">
                <a:solidFill>
                  <a:schemeClr val="accent1">
                    <a:lumMod val="75000"/>
                  </a:schemeClr>
                </a:solidFill>
                <a:latin typeface="+mn-lt"/>
                <a:ea typeface="+mn-ea"/>
                <a:cs typeface="+mn-cs"/>
              </a:rPr>
              <a:t>Correlation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dirty="0"/>
          </a:p>
        </p:txBody>
      </p:sp>
      <p:sp>
        <p:nvSpPr>
          <p:cNvPr id="2" name="Номер слайда 1"/>
          <p:cNvSpPr>
            <a:spLocks noGrp="1"/>
          </p:cNvSpPr>
          <p:nvPr>
            <p:ph type="sldNum" sz="quarter" idx="12"/>
          </p:nvPr>
        </p:nvSpPr>
        <p:spPr/>
        <p:txBody>
          <a:bodyPr/>
          <a:lstStyle/>
          <a:p>
            <a:fld id="{B676878C-2127-40CF-8B63-88FA79C4AE39}" type="slidenum">
              <a:rPr lang="ru-RU" smtClean="0"/>
              <a:t>8</a:t>
            </a:fld>
            <a:endParaRPr lang="ru-RU"/>
          </a:p>
        </p:txBody>
      </p:sp>
      <p:sp>
        <p:nvSpPr>
          <p:cNvPr id="3" name="Прямоугольник 2"/>
          <p:cNvSpPr/>
          <p:nvPr/>
        </p:nvSpPr>
        <p:spPr>
          <a:xfrm>
            <a:off x="404609" y="987574"/>
            <a:ext cx="8352928" cy="3693319"/>
          </a:xfrm>
          <a:prstGeom prst="rect">
            <a:avLst/>
          </a:prstGeom>
        </p:spPr>
        <p:txBody>
          <a:bodyPr wrap="square">
            <a:spAutoFit/>
          </a:bodyPr>
          <a:lstStyle/>
          <a:p>
            <a:pPr lvl="0"/>
            <a:r>
              <a:rPr lang="ru-RU" dirty="0" smtClean="0"/>
              <a:t>1. </a:t>
            </a:r>
            <a:r>
              <a:rPr lang="en-US" dirty="0" smtClean="0"/>
              <a:t>Normality </a:t>
            </a:r>
            <a:r>
              <a:rPr lang="en-US" dirty="0"/>
              <a:t>Assessment</a:t>
            </a:r>
            <a:endParaRPr lang="ru-RU" dirty="0"/>
          </a:p>
          <a:p>
            <a:r>
              <a:rPr lang="en-US" dirty="0"/>
              <a:t>For lipids1 and lipids2:</a:t>
            </a:r>
            <a:endParaRPr lang="ru-RU" dirty="0"/>
          </a:p>
          <a:p>
            <a:r>
              <a:rPr lang="en-US" dirty="0" smtClean="0"/>
              <a:t>Perform </a:t>
            </a:r>
            <a:r>
              <a:rPr lang="en-US" dirty="0"/>
              <a:t>Shapiro–</a:t>
            </a:r>
            <a:r>
              <a:rPr lang="en-US" dirty="0" err="1"/>
              <a:t>Wilk</a:t>
            </a:r>
            <a:r>
              <a:rPr lang="en-US" dirty="0"/>
              <a:t> test (statistical test for normality).</a:t>
            </a:r>
            <a:endParaRPr lang="ru-RU" dirty="0"/>
          </a:p>
          <a:p>
            <a:r>
              <a:rPr lang="en-US" dirty="0"/>
              <a:t>Plot histogram (visual inspection of distribution shape).</a:t>
            </a:r>
            <a:endParaRPr lang="ru-RU" dirty="0"/>
          </a:p>
          <a:p>
            <a:r>
              <a:rPr lang="en-US" dirty="0"/>
              <a:t>Generate Q–Q plot (compare empirical </a:t>
            </a:r>
            <a:r>
              <a:rPr lang="en-US" dirty="0" err="1"/>
              <a:t>quantiles</a:t>
            </a:r>
            <a:r>
              <a:rPr lang="en-US" dirty="0"/>
              <a:t> to theoretical normal </a:t>
            </a:r>
            <a:r>
              <a:rPr lang="en-US" dirty="0" err="1"/>
              <a:t>quantiles</a:t>
            </a:r>
            <a:r>
              <a:rPr lang="en-US" dirty="0"/>
              <a:t>).</a:t>
            </a:r>
            <a:endParaRPr lang="ru-RU" dirty="0"/>
          </a:p>
          <a:p>
            <a:pPr lvl="0"/>
            <a:r>
              <a:rPr lang="en-US" dirty="0"/>
              <a:t> </a:t>
            </a:r>
            <a:r>
              <a:rPr lang="ru-RU" dirty="0" smtClean="0"/>
              <a:t>2. </a:t>
            </a:r>
            <a:r>
              <a:rPr lang="en-US" dirty="0" smtClean="0"/>
              <a:t>Correlation </a:t>
            </a:r>
            <a:r>
              <a:rPr lang="en-US" dirty="0"/>
              <a:t>Analysis</a:t>
            </a:r>
            <a:endParaRPr lang="ru-RU" dirty="0"/>
          </a:p>
          <a:p>
            <a:r>
              <a:rPr lang="en-US" dirty="0"/>
              <a:t>Standard Spearman’s rank correlation between lipids1 and lipids2.</a:t>
            </a:r>
            <a:endParaRPr lang="ru-RU" dirty="0"/>
          </a:p>
          <a:p>
            <a:r>
              <a:rPr lang="en-US" dirty="0"/>
              <a:t>Permutation test for Spearman correlation (10,000 permutations) for three pairs:</a:t>
            </a:r>
            <a:endParaRPr lang="ru-RU" dirty="0"/>
          </a:p>
          <a:p>
            <a:r>
              <a:rPr lang="en-US" dirty="0"/>
              <a:t>lipids1 </a:t>
            </a:r>
            <a:r>
              <a:rPr lang="en-US" dirty="0" err="1"/>
              <a:t>vs</a:t>
            </a:r>
            <a:r>
              <a:rPr lang="en-US" dirty="0"/>
              <a:t> lipids2</a:t>
            </a:r>
            <a:endParaRPr lang="ru-RU" dirty="0"/>
          </a:p>
          <a:p>
            <a:r>
              <a:rPr lang="en-US" dirty="0"/>
              <a:t>lipids1 </a:t>
            </a:r>
            <a:r>
              <a:rPr lang="en-US" dirty="0" err="1"/>
              <a:t>vs</a:t>
            </a:r>
            <a:r>
              <a:rPr lang="en-US" dirty="0"/>
              <a:t> lipids3</a:t>
            </a:r>
            <a:endParaRPr lang="ru-RU" dirty="0"/>
          </a:p>
          <a:p>
            <a:r>
              <a:rPr lang="en-US" dirty="0"/>
              <a:t>lipids1 </a:t>
            </a:r>
            <a:r>
              <a:rPr lang="en-US" dirty="0" err="1"/>
              <a:t>vs</a:t>
            </a:r>
            <a:r>
              <a:rPr lang="en-US" dirty="0"/>
              <a:t> lipids4</a:t>
            </a:r>
            <a:endParaRPr lang="ru-RU" dirty="0"/>
          </a:p>
          <a:p>
            <a:r>
              <a:rPr lang="ru-RU" dirty="0" smtClean="0"/>
              <a:t>3. </a:t>
            </a:r>
            <a:r>
              <a:rPr lang="en-US" dirty="0" smtClean="0"/>
              <a:t>Store </a:t>
            </a:r>
            <a:r>
              <a:rPr lang="en-US" dirty="0"/>
              <a:t>the results of all three permutation tests.</a:t>
            </a:r>
            <a:endParaRPr lang="ru-RU" dirty="0"/>
          </a:p>
          <a:p>
            <a:pPr lvl="0"/>
            <a:r>
              <a:rPr lang="ru-RU" dirty="0" smtClean="0"/>
              <a:t>4.</a:t>
            </a:r>
            <a:r>
              <a:rPr lang="en-US" dirty="0" smtClean="0"/>
              <a:t> Visualization </a:t>
            </a:r>
            <a:r>
              <a:rPr lang="en-US" dirty="0"/>
              <a:t>of lipids1 </a:t>
            </a:r>
            <a:r>
              <a:rPr lang="en-US" dirty="0" err="1"/>
              <a:t>vs</a:t>
            </a:r>
            <a:r>
              <a:rPr lang="en-US" dirty="0"/>
              <a:t> lipids2 Relationship</a:t>
            </a:r>
            <a:endParaRPr lang="ru-RU" dirty="0"/>
          </a:p>
        </p:txBody>
      </p:sp>
    </p:spTree>
    <p:extLst>
      <p:ext uri="{BB962C8B-B14F-4D97-AF65-F5344CB8AC3E}">
        <p14:creationId xmlns:p14="http://schemas.microsoft.com/office/powerpoint/2010/main" val="92161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ru-RU" sz="4000" kern="1200" dirty="0" err="1">
                <a:solidFill>
                  <a:schemeClr val="accent1">
                    <a:lumMod val="75000"/>
                  </a:schemeClr>
                </a:solidFill>
                <a:latin typeface="+mn-lt"/>
                <a:ea typeface="+mn-ea"/>
                <a:cs typeface="+mn-cs"/>
              </a:rPr>
              <a:t>Regression</a:t>
            </a:r>
            <a:r>
              <a:rPr lang="ru-RU" sz="4000" kern="1200" dirty="0">
                <a:solidFill>
                  <a:schemeClr val="accent1">
                    <a:lumMod val="75000"/>
                  </a:schemeClr>
                </a:solidFill>
                <a:latin typeface="+mn-lt"/>
                <a:ea typeface="+mn-ea"/>
                <a:cs typeface="+mn-cs"/>
              </a:rPr>
              <a:t>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2" name="Номер слайда 1"/>
          <p:cNvSpPr>
            <a:spLocks noGrp="1"/>
          </p:cNvSpPr>
          <p:nvPr>
            <p:ph type="sldNum" sz="quarter" idx="12"/>
          </p:nvPr>
        </p:nvSpPr>
        <p:spPr/>
        <p:txBody>
          <a:bodyPr/>
          <a:lstStyle/>
          <a:p>
            <a:fld id="{B676878C-2127-40CF-8B63-88FA79C4AE39}" type="slidenum">
              <a:rPr lang="ru-RU" smtClean="0"/>
              <a:t>9</a:t>
            </a:fld>
            <a:endParaRPr lang="ru-RU"/>
          </a:p>
        </p:txBody>
      </p:sp>
      <p:sp>
        <p:nvSpPr>
          <p:cNvPr id="3" name="Прямоугольник 2"/>
          <p:cNvSpPr/>
          <p:nvPr/>
        </p:nvSpPr>
        <p:spPr>
          <a:xfrm>
            <a:off x="611560" y="1203598"/>
            <a:ext cx="5328592" cy="2585323"/>
          </a:xfrm>
          <a:prstGeom prst="rect">
            <a:avLst/>
          </a:prstGeom>
        </p:spPr>
        <p:txBody>
          <a:bodyPr wrap="square">
            <a:spAutoFit/>
          </a:bodyPr>
          <a:lstStyle/>
          <a:p>
            <a:r>
              <a:rPr lang="en-US" dirty="0"/>
              <a:t>Build five regression models of lipids1 </a:t>
            </a:r>
            <a:r>
              <a:rPr lang="en-US" dirty="0" err="1"/>
              <a:t>vs</a:t>
            </a:r>
            <a:r>
              <a:rPr lang="en-US" dirty="0"/>
              <a:t> lipids2:</a:t>
            </a:r>
            <a:endParaRPr lang="ru-RU" dirty="0"/>
          </a:p>
          <a:p>
            <a:r>
              <a:rPr lang="en-US" dirty="0"/>
              <a:t>linear,</a:t>
            </a:r>
            <a:endParaRPr lang="ru-RU" dirty="0"/>
          </a:p>
          <a:p>
            <a:r>
              <a:rPr lang="en-US" dirty="0"/>
              <a:t>2nd-degree polynomial,</a:t>
            </a:r>
            <a:endParaRPr lang="ru-RU" dirty="0"/>
          </a:p>
          <a:p>
            <a:r>
              <a:rPr lang="en-US" dirty="0"/>
              <a:t>3rd-degree polynomial,</a:t>
            </a:r>
            <a:endParaRPr lang="ru-RU" dirty="0"/>
          </a:p>
          <a:p>
            <a:r>
              <a:rPr lang="en-US" dirty="0"/>
              <a:t>exponential (log response),</a:t>
            </a:r>
            <a:endParaRPr lang="ru-RU" dirty="0"/>
          </a:p>
          <a:p>
            <a:r>
              <a:rPr lang="en-US" dirty="0"/>
              <a:t>“logarithmic</a:t>
            </a:r>
            <a:r>
              <a:rPr lang="en-US" dirty="0" smtClean="0"/>
              <a:t>”.</a:t>
            </a:r>
            <a:endParaRPr lang="ru-RU" dirty="0" smtClean="0"/>
          </a:p>
          <a:p>
            <a:endParaRPr lang="ru-RU" dirty="0"/>
          </a:p>
          <a:p>
            <a:r>
              <a:rPr lang="en-US" dirty="0"/>
              <a:t>Compare models using the BIC criterion.</a:t>
            </a:r>
            <a:endParaRPr lang="ru-RU" dirty="0"/>
          </a:p>
          <a:p>
            <a:r>
              <a:rPr lang="en-US" dirty="0"/>
              <a:t>Visualization: scatter plot of lipids1 </a:t>
            </a:r>
            <a:r>
              <a:rPr lang="en-US" dirty="0" err="1"/>
              <a:t>vs</a:t>
            </a:r>
            <a:r>
              <a:rPr lang="en-US" dirty="0"/>
              <a:t> lipids2 </a:t>
            </a:r>
            <a:endParaRPr lang="ru-RU" dirty="0"/>
          </a:p>
        </p:txBody>
      </p:sp>
    </p:spTree>
    <p:extLst>
      <p:ext uri="{BB962C8B-B14F-4D97-AF65-F5344CB8AC3E}">
        <p14:creationId xmlns:p14="http://schemas.microsoft.com/office/powerpoint/2010/main" val="3677685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ru-RU" sz="4000" kern="1200" dirty="0" err="1">
                <a:solidFill>
                  <a:schemeClr val="accent1">
                    <a:lumMod val="75000"/>
                  </a:schemeClr>
                </a:solidFill>
                <a:latin typeface="+mn-lt"/>
                <a:ea typeface="+mn-ea"/>
                <a:cs typeface="+mn-cs"/>
              </a:rPr>
              <a:t>Regression</a:t>
            </a:r>
            <a:r>
              <a:rPr lang="ru-RU" sz="4000" kern="1200" dirty="0">
                <a:solidFill>
                  <a:schemeClr val="accent1">
                    <a:lumMod val="75000"/>
                  </a:schemeClr>
                </a:solidFill>
                <a:latin typeface="+mn-lt"/>
                <a:ea typeface="+mn-ea"/>
                <a:cs typeface="+mn-cs"/>
              </a:rPr>
              <a:t>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23" name="Прямоугольник 22"/>
          <p:cNvSpPr/>
          <p:nvPr/>
        </p:nvSpPr>
        <p:spPr>
          <a:xfrm>
            <a:off x="459707" y="1995686"/>
            <a:ext cx="8352928" cy="2308324"/>
          </a:xfrm>
          <a:prstGeom prst="rect">
            <a:avLst/>
          </a:prstGeom>
        </p:spPr>
        <p:txBody>
          <a:bodyPr wrap="square">
            <a:spAutoFit/>
          </a:bodyPr>
          <a:lstStyle/>
          <a:p>
            <a:r>
              <a:rPr lang="en-US" dirty="0"/>
              <a:t>The </a:t>
            </a:r>
            <a:r>
              <a:rPr lang="en-US" b="1" dirty="0"/>
              <a:t>Bayesian Information Criterion (BIC)</a:t>
            </a:r>
            <a:r>
              <a:rPr lang="en-US" dirty="0"/>
              <a:t> is a model selection metric that balances </a:t>
            </a:r>
            <a:r>
              <a:rPr lang="en-US" b="1" dirty="0"/>
              <a:t>model fit</a:t>
            </a:r>
            <a:r>
              <a:rPr lang="en-US" dirty="0"/>
              <a:t> and </a:t>
            </a:r>
            <a:r>
              <a:rPr lang="en-US" b="1" dirty="0"/>
              <a:t>complexity</a:t>
            </a:r>
            <a:r>
              <a:rPr lang="en-US" dirty="0"/>
              <a:t> (similar to AIC but with a stronger penalty for extra parameters). It is defined as:</a:t>
            </a:r>
          </a:p>
          <a:p>
            <a:r>
              <a:rPr lang="en-US" dirty="0"/>
              <a:t>BIC=−2⋅log⁡(L)+</a:t>
            </a:r>
            <a:r>
              <a:rPr lang="en-US" dirty="0" err="1"/>
              <a:t>k⋅log</a:t>
            </a:r>
            <a:r>
              <a:rPr lang="en-US" dirty="0"/>
              <a:t>⁡(n)BIC=−2⋅log(L)+</a:t>
            </a:r>
            <a:r>
              <a:rPr lang="en-US" i="1" dirty="0" err="1"/>
              <a:t>k</a:t>
            </a:r>
            <a:r>
              <a:rPr lang="en-US" dirty="0" err="1"/>
              <a:t>⋅log</a:t>
            </a:r>
            <a:r>
              <a:rPr lang="en-US" dirty="0"/>
              <a:t>(</a:t>
            </a:r>
            <a:r>
              <a:rPr lang="en-US" i="1" dirty="0"/>
              <a:t>n</a:t>
            </a:r>
            <a:r>
              <a:rPr lang="en-US" dirty="0" smtClean="0"/>
              <a:t>)</a:t>
            </a:r>
            <a:endParaRPr lang="ru-RU" dirty="0" smtClean="0"/>
          </a:p>
          <a:p>
            <a:r>
              <a:rPr lang="en-US" dirty="0" smtClean="0"/>
              <a:t>L</a:t>
            </a:r>
            <a:r>
              <a:rPr lang="en-US" dirty="0"/>
              <a:t> = Likelihood of the model</a:t>
            </a:r>
          </a:p>
          <a:p>
            <a:r>
              <a:rPr lang="en-US" i="1" dirty="0" smtClean="0"/>
              <a:t>k</a:t>
            </a:r>
            <a:r>
              <a:rPr lang="en-US" dirty="0"/>
              <a:t> = Number of parameters</a:t>
            </a:r>
          </a:p>
          <a:p>
            <a:r>
              <a:rPr lang="en-US" i="1" dirty="0" smtClean="0"/>
              <a:t>n</a:t>
            </a:r>
            <a:r>
              <a:rPr lang="en-US" dirty="0"/>
              <a:t> = Sample size</a:t>
            </a:r>
          </a:p>
          <a:p>
            <a:r>
              <a:rPr lang="en-US" b="1" dirty="0"/>
              <a:t>Lower BIC values indicate better models.</a:t>
            </a:r>
            <a:endParaRPr lang="en-US" dirty="0"/>
          </a:p>
        </p:txBody>
      </p:sp>
      <p:sp>
        <p:nvSpPr>
          <p:cNvPr id="19" name="Прямоугольник 18"/>
          <p:cNvSpPr/>
          <p:nvPr/>
        </p:nvSpPr>
        <p:spPr>
          <a:xfrm>
            <a:off x="499060" y="1131590"/>
            <a:ext cx="8393420" cy="369332"/>
          </a:xfrm>
          <a:prstGeom prst="rect">
            <a:avLst/>
          </a:prstGeom>
        </p:spPr>
        <p:txBody>
          <a:bodyPr wrap="square">
            <a:spAutoFit/>
          </a:bodyPr>
          <a:lstStyle/>
          <a:p>
            <a:r>
              <a:rPr lang="en-US" dirty="0"/>
              <a:t>T</a:t>
            </a:r>
            <a:r>
              <a:rPr lang="en-US" dirty="0" smtClean="0"/>
              <a:t>he </a:t>
            </a:r>
            <a:r>
              <a:rPr lang="en-US" dirty="0"/>
              <a:t>choice of the most optimal </a:t>
            </a:r>
            <a:r>
              <a:rPr lang="en-US" dirty="0" smtClean="0"/>
              <a:t>model is </a:t>
            </a:r>
            <a:r>
              <a:rPr lang="en-US" dirty="0"/>
              <a:t>based on the </a:t>
            </a:r>
            <a:r>
              <a:rPr lang="en-US" dirty="0" smtClean="0"/>
              <a:t>Bayesian </a:t>
            </a:r>
            <a:r>
              <a:rPr lang="en-US" dirty="0"/>
              <a:t>information criterion</a:t>
            </a:r>
            <a:endParaRPr lang="ru-RU" dirty="0"/>
          </a:p>
        </p:txBody>
      </p:sp>
      <p:sp>
        <p:nvSpPr>
          <p:cNvPr id="2" name="Номер слайда 1"/>
          <p:cNvSpPr>
            <a:spLocks noGrp="1"/>
          </p:cNvSpPr>
          <p:nvPr>
            <p:ph type="sldNum" sz="quarter" idx="12"/>
          </p:nvPr>
        </p:nvSpPr>
        <p:spPr/>
        <p:txBody>
          <a:bodyPr/>
          <a:lstStyle/>
          <a:p>
            <a:fld id="{B676878C-2127-40CF-8B63-88FA79C4AE39}" type="slidenum">
              <a:rPr lang="ru-RU" smtClean="0"/>
              <a:t>10</a:t>
            </a:fld>
            <a:endParaRPr lang="ru-RU"/>
          </a:p>
        </p:txBody>
      </p:sp>
    </p:spTree>
    <p:extLst>
      <p:ext uri="{BB962C8B-B14F-4D97-AF65-F5344CB8AC3E}">
        <p14:creationId xmlns:p14="http://schemas.microsoft.com/office/powerpoint/2010/main" val="3352056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827584" y="843558"/>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a:xfrm>
            <a:off x="415226" y="123478"/>
            <a:ext cx="8229600" cy="857250"/>
          </a:xfrm>
        </p:spPr>
        <p:txBody>
          <a:bodyPr>
            <a:noAutofit/>
          </a:bodyPr>
          <a:lstStyle/>
          <a:p>
            <a:pPr lvl="1" algn="ctr" rtl="0">
              <a:spcBef>
                <a:spcPct val="0"/>
              </a:spcBef>
            </a:pPr>
            <a:r>
              <a:rPr lang="ru-RU" sz="4000" kern="1200" dirty="0" err="1">
                <a:solidFill>
                  <a:schemeClr val="accent1">
                    <a:lumMod val="75000"/>
                  </a:schemeClr>
                </a:solidFill>
                <a:latin typeface="+mn-lt"/>
                <a:ea typeface="+mn-ea"/>
                <a:cs typeface="+mn-cs"/>
              </a:rPr>
              <a:t>Regression</a:t>
            </a:r>
            <a:r>
              <a:rPr lang="ru-RU" sz="4000" kern="1200" dirty="0">
                <a:solidFill>
                  <a:schemeClr val="accent1">
                    <a:lumMod val="75000"/>
                  </a:schemeClr>
                </a:solidFill>
                <a:latin typeface="+mn-lt"/>
                <a:ea typeface="+mn-ea"/>
                <a:cs typeface="+mn-cs"/>
              </a:rPr>
              <a:t> </a:t>
            </a:r>
            <a:r>
              <a:rPr lang="ru-RU" sz="4000" kern="1200" dirty="0" err="1">
                <a:solidFill>
                  <a:schemeClr val="accent1">
                    <a:lumMod val="75000"/>
                  </a:schemeClr>
                </a:solidFill>
                <a:latin typeface="+mn-lt"/>
                <a:ea typeface="+mn-ea"/>
                <a:cs typeface="+mn-cs"/>
              </a:rPr>
              <a:t>Analysis</a:t>
            </a:r>
            <a:r>
              <a:rPr lang="en-US" sz="4000" kern="1200" dirty="0">
                <a:solidFill>
                  <a:schemeClr val="accent1">
                    <a:lumMod val="75000"/>
                  </a:schemeClr>
                </a:solidFill>
                <a:latin typeface="+mn-lt"/>
                <a:ea typeface="+mn-ea"/>
                <a:cs typeface="+mn-cs"/>
              </a:rPr>
              <a:t> </a:t>
            </a:r>
            <a:endParaRPr lang="ru-RU" sz="4000" kern="1200" dirty="0">
              <a:solidFill>
                <a:schemeClr val="accent1">
                  <a:lumMod val="75000"/>
                </a:schemeClr>
              </a:solidFill>
              <a:latin typeface="+mn-lt"/>
              <a:ea typeface="+mn-ea"/>
              <a:cs typeface="+mn-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0392" y="29257"/>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Дата 11"/>
          <p:cNvSpPr>
            <a:spLocks noGrp="1"/>
          </p:cNvSpPr>
          <p:nvPr>
            <p:ph type="dt" sz="half" idx="10"/>
          </p:nvPr>
        </p:nvSpPr>
        <p:spPr/>
        <p:txBody>
          <a:bodyPr/>
          <a:lstStyle/>
          <a:p>
            <a:r>
              <a:rPr lang="ru-RU" smtClean="0"/>
              <a:t>28.04.26</a:t>
            </a:r>
            <a:endParaRPr lang="ru-RU"/>
          </a:p>
        </p:txBody>
      </p:sp>
      <p:sp>
        <p:nvSpPr>
          <p:cNvPr id="2" name="Номер слайда 1"/>
          <p:cNvSpPr>
            <a:spLocks noGrp="1"/>
          </p:cNvSpPr>
          <p:nvPr>
            <p:ph type="sldNum" sz="quarter" idx="12"/>
          </p:nvPr>
        </p:nvSpPr>
        <p:spPr/>
        <p:txBody>
          <a:bodyPr/>
          <a:lstStyle/>
          <a:p>
            <a:fld id="{B676878C-2127-40CF-8B63-88FA79C4AE39}" type="slidenum">
              <a:rPr lang="ru-RU" smtClean="0"/>
              <a:t>11</a:t>
            </a:fld>
            <a:endParaRPr lang="ru-RU"/>
          </a:p>
        </p:txBody>
      </p:sp>
      <p:sp>
        <p:nvSpPr>
          <p:cNvPr id="3" name="Прямоугольник 2"/>
          <p:cNvSpPr/>
          <p:nvPr/>
        </p:nvSpPr>
        <p:spPr>
          <a:xfrm>
            <a:off x="179512" y="786437"/>
            <a:ext cx="8712968" cy="4031873"/>
          </a:xfrm>
          <a:prstGeom prst="rect">
            <a:avLst/>
          </a:prstGeom>
        </p:spPr>
        <p:txBody>
          <a:bodyPr wrap="square">
            <a:spAutoFit/>
          </a:bodyPr>
          <a:lstStyle/>
          <a:p>
            <a:r>
              <a:rPr lang="ru-RU" sz="1600" b="1" dirty="0" err="1"/>
              <a:t>Logistic</a:t>
            </a:r>
            <a:r>
              <a:rPr lang="ru-RU" sz="1600" b="1" dirty="0"/>
              <a:t> </a:t>
            </a:r>
            <a:r>
              <a:rPr lang="ru-RU" sz="1600" b="1" dirty="0" err="1"/>
              <a:t>Regression</a:t>
            </a:r>
            <a:endParaRPr lang="ru-RU" sz="1600" dirty="0"/>
          </a:p>
          <a:p>
            <a:r>
              <a:rPr lang="en-US" sz="1600" b="1" i="1" dirty="0"/>
              <a:t>Fitting three models using binomial logistic regression </a:t>
            </a:r>
            <a:r>
              <a:rPr lang="en-US" sz="1600" dirty="0"/>
              <a:t>(dependent variable outcome, a two‑level factor):</a:t>
            </a:r>
            <a:endParaRPr lang="ru-RU" sz="1600" dirty="0"/>
          </a:p>
          <a:p>
            <a:r>
              <a:rPr lang="en-US" sz="1600" dirty="0"/>
              <a:t> </a:t>
            </a:r>
            <a:r>
              <a:rPr lang="en-US" sz="1600" dirty="0" smtClean="0"/>
              <a:t>model_logit_1 </a:t>
            </a:r>
            <a:r>
              <a:rPr lang="en-US" sz="1600" dirty="0"/>
              <a:t>– single predictor lipids1;</a:t>
            </a:r>
            <a:endParaRPr lang="ru-RU" sz="1600" dirty="0"/>
          </a:p>
          <a:p>
            <a:r>
              <a:rPr lang="en-US" sz="1600" dirty="0"/>
              <a:t> </a:t>
            </a:r>
            <a:r>
              <a:rPr lang="en-US" sz="1600" dirty="0" smtClean="0"/>
              <a:t>model_logit_2 </a:t>
            </a:r>
            <a:r>
              <a:rPr lang="en-US" sz="1600" dirty="0"/>
              <a:t>– two predictors lipids1 and lipids2;</a:t>
            </a:r>
            <a:endParaRPr lang="ru-RU" sz="1600" dirty="0"/>
          </a:p>
          <a:p>
            <a:r>
              <a:rPr lang="en-US" sz="1600" dirty="0"/>
              <a:t> </a:t>
            </a:r>
            <a:r>
              <a:rPr lang="en-US" sz="1600" dirty="0" err="1" smtClean="0"/>
              <a:t>model_logit_all</a:t>
            </a:r>
            <a:r>
              <a:rPr lang="en-US" sz="1600" dirty="0" smtClean="0"/>
              <a:t> </a:t>
            </a:r>
            <a:r>
              <a:rPr lang="en-US" sz="1600" dirty="0"/>
              <a:t>– all predictors lipids1, lipids2, lipids3, lipids4.</a:t>
            </a:r>
            <a:endParaRPr lang="ru-RU" sz="1600" dirty="0"/>
          </a:p>
          <a:p>
            <a:endParaRPr lang="ru-RU" sz="1600" dirty="0" smtClean="0"/>
          </a:p>
          <a:p>
            <a:r>
              <a:rPr lang="en-US" sz="1600" b="1" i="1" dirty="0" smtClean="0"/>
              <a:t>Probability </a:t>
            </a:r>
            <a:r>
              <a:rPr lang="en-US" sz="1600" b="1" i="1" dirty="0"/>
              <a:t>prediction for model_logit_2 </a:t>
            </a:r>
            <a:r>
              <a:rPr lang="en-US" sz="1600" dirty="0"/>
              <a:t>on the same data and classification using a 0.5 threshold (class 1 if probability &gt; 0.5, otherwise 0).</a:t>
            </a:r>
            <a:endParaRPr lang="ru-RU" sz="1600" dirty="0"/>
          </a:p>
          <a:p>
            <a:r>
              <a:rPr lang="en-US" sz="1600" dirty="0"/>
              <a:t> </a:t>
            </a:r>
            <a:endParaRPr lang="ru-RU" sz="1600" dirty="0" smtClean="0"/>
          </a:p>
          <a:p>
            <a:r>
              <a:rPr lang="en-US" sz="1600" b="1" i="1" dirty="0" smtClean="0"/>
              <a:t>Confusion </a:t>
            </a:r>
            <a:r>
              <a:rPr lang="en-US" sz="1600" b="1" i="1" dirty="0"/>
              <a:t>matrix </a:t>
            </a:r>
            <a:r>
              <a:rPr lang="en-US" sz="1600" dirty="0"/>
              <a:t>– comparing actual vs. predicted classes.</a:t>
            </a:r>
            <a:endParaRPr lang="ru-RU" sz="1600" dirty="0"/>
          </a:p>
          <a:p>
            <a:r>
              <a:rPr lang="en-US" sz="1600" dirty="0" smtClean="0"/>
              <a:t>Quality </a:t>
            </a:r>
            <a:r>
              <a:rPr lang="en-US" sz="1600" dirty="0"/>
              <a:t>assessment – plots the </a:t>
            </a:r>
            <a:r>
              <a:rPr lang="en-US" sz="1600" b="1" i="1" dirty="0"/>
              <a:t>ROC curve and computes the AUC (area under the curve</a:t>
            </a:r>
            <a:r>
              <a:rPr lang="en-US" sz="1600" dirty="0" smtClean="0"/>
              <a:t>).</a:t>
            </a:r>
            <a:endParaRPr lang="ru-RU" sz="1600" dirty="0"/>
          </a:p>
          <a:p>
            <a:r>
              <a:rPr lang="en-US" sz="1600" dirty="0" smtClean="0"/>
              <a:t>Stepwise </a:t>
            </a:r>
            <a:r>
              <a:rPr lang="en-US" sz="1600" dirty="0"/>
              <a:t>variable selection – based on the full model, automatic selection is performed using the AIC criterion (direction “both”). The final model is printed.</a:t>
            </a:r>
            <a:endParaRPr lang="ru-RU" sz="1600" dirty="0"/>
          </a:p>
          <a:p>
            <a:r>
              <a:rPr lang="en-US" sz="1600" dirty="0" smtClean="0"/>
              <a:t>Coefficient </a:t>
            </a:r>
            <a:r>
              <a:rPr lang="en-US" sz="1600" dirty="0"/>
              <a:t>interpretation – for model_logit_2, </a:t>
            </a:r>
            <a:r>
              <a:rPr lang="en-US" sz="1600" b="1" i="1" dirty="0"/>
              <a:t>odds ratios and their 95% confidence intervals </a:t>
            </a:r>
            <a:r>
              <a:rPr lang="en-US" sz="1600" dirty="0"/>
              <a:t>are </a:t>
            </a:r>
            <a:r>
              <a:rPr lang="en-US" sz="1600" dirty="0" smtClean="0"/>
              <a:t>calculated</a:t>
            </a:r>
            <a:r>
              <a:rPr lang="ru-RU" sz="1600" dirty="0" smtClean="0"/>
              <a:t>.</a:t>
            </a:r>
            <a:endParaRPr lang="ru-RU" sz="1600" dirty="0"/>
          </a:p>
        </p:txBody>
      </p:sp>
    </p:spTree>
    <p:extLst>
      <p:ext uri="{BB962C8B-B14F-4D97-AF65-F5344CB8AC3E}">
        <p14:creationId xmlns:p14="http://schemas.microsoft.com/office/powerpoint/2010/main" val="2577057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Прямая соединительная линия 5"/>
          <p:cNvCxnSpPr/>
          <p:nvPr/>
        </p:nvCxnSpPr>
        <p:spPr>
          <a:xfrm>
            <a:off x="755576" y="722449"/>
            <a:ext cx="72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Заголовок 6"/>
          <p:cNvSpPr>
            <a:spLocks noGrp="1"/>
          </p:cNvSpPr>
          <p:nvPr>
            <p:ph type="title"/>
          </p:nvPr>
        </p:nvSpPr>
        <p:spPr/>
        <p:txBody>
          <a:bodyPr>
            <a:normAutofit fontScale="90000"/>
          </a:bodyPr>
          <a:lstStyle/>
          <a:p>
            <a:pPr lvl="1" algn="ctr" rtl="0">
              <a:spcBef>
                <a:spcPct val="0"/>
              </a:spcBef>
            </a:pPr>
            <a:r>
              <a:rPr lang="en-US" sz="4400" kern="1200" dirty="0" smtClean="0">
                <a:solidFill>
                  <a:schemeClr val="accent1">
                    <a:lumMod val="75000"/>
                  </a:schemeClr>
                </a:solidFill>
                <a:latin typeface="+mn-lt"/>
                <a:ea typeface="+mn-ea"/>
                <a:cs typeface="+mn-cs"/>
              </a:rPr>
              <a:t>Task </a:t>
            </a:r>
            <a:r>
              <a:rPr lang="en-US" sz="4400" kern="1200" dirty="0" smtClean="0">
                <a:solidFill>
                  <a:schemeClr val="accent1">
                    <a:lumMod val="75000"/>
                  </a:schemeClr>
                </a:solidFill>
                <a:latin typeface="+mn-lt"/>
                <a:ea typeface="+mn-ea"/>
                <a:cs typeface="+mn-cs"/>
              </a:rPr>
              <a:t>4</a:t>
            </a:r>
            <a:r>
              <a:rPr lang="en-US" sz="4400" kern="1200" dirty="0">
                <a:solidFill>
                  <a:schemeClr val="accent1">
                    <a:lumMod val="75000"/>
                  </a:schemeClr>
                </a:solidFill>
                <a:latin typeface="+mn-lt"/>
                <a:ea typeface="+mn-ea"/>
                <a:cs typeface="+mn-cs"/>
              </a:rPr>
              <a:t/>
            </a:r>
            <a:br>
              <a:rPr lang="en-US" sz="4400" kern="1200" dirty="0">
                <a:solidFill>
                  <a:schemeClr val="accent1">
                    <a:lumMod val="75000"/>
                  </a:schemeClr>
                </a:solidFill>
                <a:latin typeface="+mn-lt"/>
                <a:ea typeface="+mn-ea"/>
                <a:cs typeface="+mn-cs"/>
              </a:rPr>
            </a:br>
            <a:r>
              <a:rPr lang="en-US" dirty="0" smtClean="0"/>
              <a:t/>
            </a:r>
            <a:br>
              <a:rPr lang="en-US" dirty="0" smtClean="0"/>
            </a:br>
            <a:endParaRPr lang="ru-RU" dirty="0"/>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0556" y="195486"/>
            <a:ext cx="1016997" cy="781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Дата 2"/>
          <p:cNvSpPr>
            <a:spLocks noGrp="1"/>
          </p:cNvSpPr>
          <p:nvPr>
            <p:ph type="dt" sz="half" idx="10"/>
          </p:nvPr>
        </p:nvSpPr>
        <p:spPr/>
        <p:txBody>
          <a:bodyPr/>
          <a:lstStyle/>
          <a:p>
            <a:r>
              <a:rPr lang="ru-RU" smtClean="0"/>
              <a:t>28.04.26</a:t>
            </a:r>
            <a:endParaRPr lang="ru-RU"/>
          </a:p>
        </p:txBody>
      </p:sp>
      <p:sp>
        <p:nvSpPr>
          <p:cNvPr id="2" name="TextBox 1"/>
          <p:cNvSpPr txBox="1"/>
          <p:nvPr/>
        </p:nvSpPr>
        <p:spPr>
          <a:xfrm>
            <a:off x="430811" y="1584011"/>
            <a:ext cx="7403580" cy="2862322"/>
          </a:xfrm>
          <a:prstGeom prst="rect">
            <a:avLst/>
          </a:prstGeom>
          <a:noFill/>
        </p:spPr>
        <p:txBody>
          <a:bodyPr wrap="square" rtlCol="0">
            <a:spAutoFit/>
          </a:bodyPr>
          <a:lstStyle/>
          <a:p>
            <a:r>
              <a:rPr lang="ru-RU" dirty="0" smtClean="0"/>
              <a:t> </a:t>
            </a:r>
          </a:p>
          <a:p>
            <a:r>
              <a:rPr lang="en-US" b="1" dirty="0"/>
              <a:t>Dataset “</a:t>
            </a:r>
            <a:r>
              <a:rPr lang="en-US" b="1" dirty="0" err="1"/>
              <a:t>data_for_analysis</a:t>
            </a:r>
            <a:r>
              <a:rPr lang="en-US" b="1" dirty="0" smtClean="0"/>
              <a:t>”</a:t>
            </a:r>
            <a:r>
              <a:rPr lang="ru-RU" b="1" dirty="0" smtClean="0"/>
              <a:t> </a:t>
            </a:r>
            <a:endParaRPr lang="en-US" sz="1600" dirty="0" smtClean="0"/>
          </a:p>
          <a:p>
            <a:endParaRPr lang="ru-RU" sz="1600" dirty="0" smtClean="0"/>
          </a:p>
          <a:p>
            <a:pPr marL="342900" indent="-342900">
              <a:buFont typeface="+mj-lt"/>
              <a:buAutoNum type="arabicPeriod"/>
            </a:pPr>
            <a:r>
              <a:rPr lang="en-US" sz="1600" dirty="0"/>
              <a:t>perform correlation analysis between other </a:t>
            </a:r>
            <a:r>
              <a:rPr lang="en-US" sz="1600" dirty="0" smtClean="0"/>
              <a:t>variables</a:t>
            </a:r>
            <a:endParaRPr lang="ru-RU" sz="1600" dirty="0" smtClean="0"/>
          </a:p>
          <a:p>
            <a:pPr marL="342900" indent="-342900">
              <a:buFont typeface="+mj-lt"/>
              <a:buAutoNum type="arabicPeriod"/>
            </a:pPr>
            <a:r>
              <a:rPr lang="en-US" sz="1600" dirty="0" smtClean="0"/>
              <a:t>obtain </a:t>
            </a:r>
            <a:r>
              <a:rPr lang="en-US" sz="1600" dirty="0"/>
              <a:t>a table with correlation coefficients with significance assessment (permutation method</a:t>
            </a:r>
            <a:r>
              <a:rPr lang="en-US" sz="1600" dirty="0" smtClean="0"/>
              <a:t>)</a:t>
            </a:r>
            <a:endParaRPr lang="ru-RU" sz="1600" dirty="0" smtClean="0"/>
          </a:p>
          <a:p>
            <a:pPr marL="342900" indent="-342900">
              <a:buFont typeface="+mj-lt"/>
              <a:buAutoNum type="arabicPeriod"/>
            </a:pPr>
            <a:r>
              <a:rPr lang="en-US" sz="1600" dirty="0" smtClean="0"/>
              <a:t>perform </a:t>
            </a:r>
            <a:r>
              <a:rPr lang="en-US" sz="1600" dirty="0"/>
              <a:t>regression analysis between other </a:t>
            </a:r>
            <a:r>
              <a:rPr lang="en-US" sz="1600" dirty="0" smtClean="0"/>
              <a:t>variables</a:t>
            </a:r>
            <a:endParaRPr lang="ru-RU" sz="1600" dirty="0" smtClean="0"/>
          </a:p>
          <a:p>
            <a:pPr marL="342900" indent="-342900">
              <a:buFont typeface="+mj-lt"/>
              <a:buAutoNum type="arabicPeriod"/>
            </a:pPr>
            <a:r>
              <a:rPr lang="en-US" sz="1600" dirty="0" smtClean="0"/>
              <a:t>select </a:t>
            </a:r>
            <a:r>
              <a:rPr lang="en-US" sz="1600" dirty="0"/>
              <a:t>the best </a:t>
            </a:r>
            <a:r>
              <a:rPr lang="en-US" sz="1600" dirty="0" smtClean="0"/>
              <a:t>model (BIC</a:t>
            </a:r>
            <a:r>
              <a:rPr lang="en-US" sz="1600" dirty="0" smtClean="0"/>
              <a:t>)</a:t>
            </a:r>
          </a:p>
          <a:p>
            <a:pPr marL="342900" indent="-342900">
              <a:buFont typeface="+mj-lt"/>
              <a:buAutoNum type="arabicPeriod"/>
            </a:pPr>
            <a:r>
              <a:rPr lang="en-US" sz="1600" dirty="0"/>
              <a:t>Fit logistic regression models using hormone variables  to predict the binary outcome, compare model performance via AIC/BIC, compute odds ratios, and summarize the results.</a:t>
            </a:r>
            <a:endParaRPr lang="ru-RU" sz="1600" dirty="0"/>
          </a:p>
        </p:txBody>
      </p:sp>
      <p:sp>
        <p:nvSpPr>
          <p:cNvPr id="9" name="Номер слайда 8"/>
          <p:cNvSpPr>
            <a:spLocks noGrp="1"/>
          </p:cNvSpPr>
          <p:nvPr>
            <p:ph type="sldNum" sz="quarter" idx="12"/>
          </p:nvPr>
        </p:nvSpPr>
        <p:spPr/>
        <p:txBody>
          <a:bodyPr/>
          <a:lstStyle/>
          <a:p>
            <a:fld id="{B676878C-2127-40CF-8B63-88FA79C4AE39}" type="slidenum">
              <a:rPr lang="ru-RU" smtClean="0"/>
              <a:t>12</a:t>
            </a:fld>
            <a:endParaRPr lang="ru-RU"/>
          </a:p>
        </p:txBody>
      </p:sp>
      <p:sp>
        <p:nvSpPr>
          <p:cNvPr id="10" name="Прямоугольник 9"/>
          <p:cNvSpPr/>
          <p:nvPr/>
        </p:nvSpPr>
        <p:spPr>
          <a:xfrm>
            <a:off x="2411760" y="915566"/>
            <a:ext cx="4572000" cy="646331"/>
          </a:xfrm>
          <a:prstGeom prst="rect">
            <a:avLst/>
          </a:prstGeom>
        </p:spPr>
        <p:txBody>
          <a:bodyPr>
            <a:spAutoFit/>
          </a:bodyPr>
          <a:lstStyle/>
          <a:p>
            <a:r>
              <a:rPr lang="en-US" dirty="0">
                <a:solidFill>
                  <a:schemeClr val="accent1">
                    <a:lumMod val="75000"/>
                  </a:schemeClr>
                </a:solidFill>
              </a:rPr>
              <a:t>Deadline subgroup 1</a:t>
            </a:r>
            <a:r>
              <a:rPr lang="ru-RU" dirty="0">
                <a:solidFill>
                  <a:schemeClr val="accent1">
                    <a:lumMod val="75000"/>
                  </a:schemeClr>
                </a:solidFill>
              </a:rPr>
              <a:t> </a:t>
            </a:r>
            <a:r>
              <a:rPr lang="en-US" dirty="0" smtClean="0">
                <a:solidFill>
                  <a:schemeClr val="accent1">
                    <a:lumMod val="75000"/>
                  </a:schemeClr>
                </a:solidFill>
              </a:rPr>
              <a:t>05</a:t>
            </a:r>
            <a:r>
              <a:rPr lang="ru-RU" dirty="0" smtClean="0">
                <a:solidFill>
                  <a:schemeClr val="accent1">
                    <a:lumMod val="75000"/>
                  </a:schemeClr>
                </a:solidFill>
              </a:rPr>
              <a:t>.0</a:t>
            </a:r>
            <a:r>
              <a:rPr lang="en-US" dirty="0" smtClean="0">
                <a:solidFill>
                  <a:schemeClr val="accent1">
                    <a:lumMod val="75000"/>
                  </a:schemeClr>
                </a:solidFill>
              </a:rPr>
              <a:t>5</a:t>
            </a:r>
            <a:r>
              <a:rPr lang="ru-RU" dirty="0" smtClean="0">
                <a:solidFill>
                  <a:schemeClr val="accent1">
                    <a:lumMod val="75000"/>
                  </a:schemeClr>
                </a:solidFill>
              </a:rPr>
              <a:t>.202</a:t>
            </a:r>
            <a:r>
              <a:rPr lang="en-US" dirty="0">
                <a:solidFill>
                  <a:schemeClr val="accent1">
                    <a:lumMod val="75000"/>
                  </a:schemeClr>
                </a:solidFill>
              </a:rPr>
              <a:t>6</a:t>
            </a:r>
            <a:r>
              <a:rPr lang="ru-RU" dirty="0">
                <a:solidFill>
                  <a:schemeClr val="accent1">
                    <a:lumMod val="75000"/>
                  </a:schemeClr>
                </a:solidFill>
              </a:rPr>
              <a:t> 23</a:t>
            </a:r>
            <a:r>
              <a:rPr lang="en-US" dirty="0">
                <a:solidFill>
                  <a:schemeClr val="accent1">
                    <a:lumMod val="75000"/>
                  </a:schemeClr>
                </a:solidFill>
              </a:rPr>
              <a:t>:59 </a:t>
            </a:r>
          </a:p>
          <a:p>
            <a:r>
              <a:rPr lang="en-US" dirty="0">
                <a:solidFill>
                  <a:schemeClr val="accent1">
                    <a:lumMod val="75000"/>
                  </a:schemeClr>
                </a:solidFill>
              </a:rPr>
              <a:t>Deadline subgroup 2</a:t>
            </a:r>
            <a:r>
              <a:rPr lang="ru-RU" dirty="0">
                <a:solidFill>
                  <a:schemeClr val="accent1">
                    <a:lumMod val="75000"/>
                  </a:schemeClr>
                </a:solidFill>
              </a:rPr>
              <a:t> </a:t>
            </a:r>
            <a:r>
              <a:rPr lang="en-US" dirty="0" smtClean="0">
                <a:solidFill>
                  <a:schemeClr val="accent1">
                    <a:lumMod val="75000"/>
                  </a:schemeClr>
                </a:solidFill>
              </a:rPr>
              <a:t>12</a:t>
            </a:r>
            <a:r>
              <a:rPr lang="ru-RU" dirty="0" smtClean="0">
                <a:solidFill>
                  <a:schemeClr val="accent1">
                    <a:lumMod val="75000"/>
                  </a:schemeClr>
                </a:solidFill>
              </a:rPr>
              <a:t>.0</a:t>
            </a:r>
            <a:r>
              <a:rPr lang="en-US" dirty="0" smtClean="0">
                <a:solidFill>
                  <a:schemeClr val="accent1">
                    <a:lumMod val="75000"/>
                  </a:schemeClr>
                </a:solidFill>
              </a:rPr>
              <a:t>5</a:t>
            </a:r>
            <a:r>
              <a:rPr lang="ru-RU" dirty="0" smtClean="0">
                <a:solidFill>
                  <a:schemeClr val="accent1">
                    <a:lumMod val="75000"/>
                  </a:schemeClr>
                </a:solidFill>
              </a:rPr>
              <a:t>.202</a:t>
            </a:r>
            <a:r>
              <a:rPr lang="en-US" dirty="0">
                <a:solidFill>
                  <a:schemeClr val="accent1">
                    <a:lumMod val="75000"/>
                  </a:schemeClr>
                </a:solidFill>
              </a:rPr>
              <a:t>6</a:t>
            </a:r>
            <a:r>
              <a:rPr lang="ru-RU" dirty="0">
                <a:solidFill>
                  <a:schemeClr val="accent1">
                    <a:lumMod val="75000"/>
                  </a:schemeClr>
                </a:solidFill>
              </a:rPr>
              <a:t> 23</a:t>
            </a:r>
            <a:r>
              <a:rPr lang="en-US" dirty="0">
                <a:solidFill>
                  <a:schemeClr val="accent1">
                    <a:lumMod val="75000"/>
                  </a:schemeClr>
                </a:solidFill>
              </a:rPr>
              <a:t>:59)</a:t>
            </a:r>
            <a:endParaRPr lang="ru-RU" dirty="0"/>
          </a:p>
        </p:txBody>
      </p:sp>
    </p:spTree>
    <p:extLst>
      <p:ext uri="{BB962C8B-B14F-4D97-AF65-F5344CB8AC3E}">
        <p14:creationId xmlns:p14="http://schemas.microsoft.com/office/powerpoint/2010/main" val="357596419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4438</TotalTime>
  <Words>425</Words>
  <Application>Microsoft Office PowerPoint</Application>
  <PresentationFormat>Экран (16:9)</PresentationFormat>
  <Paragraphs>136</Paragraphs>
  <Slides>12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12</vt:i4>
      </vt:variant>
    </vt:vector>
  </HeadingPairs>
  <TitlesOfParts>
    <vt:vector size="13" baseType="lpstr">
      <vt:lpstr>Тема Office</vt:lpstr>
      <vt:lpstr>Course: Data analysis</vt:lpstr>
      <vt:lpstr>Statistical Analysis </vt:lpstr>
      <vt:lpstr>Data Sets   </vt:lpstr>
      <vt:lpstr>Correlation Analysis </vt:lpstr>
      <vt:lpstr>Correlation Analysis </vt:lpstr>
      <vt:lpstr>Correlation Analysis </vt:lpstr>
      <vt:lpstr>Correlation Analysis </vt:lpstr>
      <vt:lpstr>Correlation Analysis </vt:lpstr>
      <vt:lpstr>Regression Analysis </vt:lpstr>
      <vt:lpstr>Regression Analysis </vt:lpstr>
      <vt:lpstr>Regression Analysis </vt:lpstr>
      <vt:lpstr>Task 4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Manipulation and Cleaning</dc:title>
  <dc:creator>admin</dc:creator>
  <cp:lastModifiedBy>admin</cp:lastModifiedBy>
  <cp:revision>75</cp:revision>
  <dcterms:created xsi:type="dcterms:W3CDTF">2025-03-26T05:48:10Z</dcterms:created>
  <dcterms:modified xsi:type="dcterms:W3CDTF">2026-04-28T08:15:53Z</dcterms:modified>
</cp:coreProperties>
</file>