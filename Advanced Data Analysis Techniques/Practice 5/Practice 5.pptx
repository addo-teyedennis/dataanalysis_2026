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62" r:id="rId2"/>
    <p:sldId id="257" r:id="rId3"/>
    <p:sldId id="263" r:id="rId4"/>
    <p:sldId id="274" r:id="rId5"/>
    <p:sldId id="275" r:id="rId6"/>
    <p:sldId id="277" r:id="rId7"/>
    <p:sldId id="258" r:id="rId8"/>
    <p:sldId id="276" r:id="rId9"/>
    <p:sldId id="278" r:id="rId10"/>
    <p:sldId id="280" r:id="rId11"/>
    <p:sldId id="273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70" y="-3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4FBCB-A7BF-4D9C-BAB4-6EA14D71830A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7BB5C-A5E4-4046-9E5F-6F23F0CED9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5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17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20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40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81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86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13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786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45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8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085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351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6878C-2127-40CF-8B63-88FA79C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12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linaa@mail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2283718"/>
            <a:ext cx="7772400" cy="1102519"/>
          </a:xfrm>
        </p:spPr>
        <p:txBody>
          <a:bodyPr/>
          <a:lstStyle/>
          <a:p>
            <a:r>
              <a:rPr lang="en-US" dirty="0" smtClean="0"/>
              <a:t>Course</a:t>
            </a:r>
            <a:r>
              <a:rPr lang="ru-RU" dirty="0" smtClean="0"/>
              <a:t>: </a:t>
            </a:r>
            <a:r>
              <a:rPr lang="en-US" dirty="0" smtClean="0"/>
              <a:t>Data analysis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95736" y="3829050"/>
            <a:ext cx="6948264" cy="686916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 err="1" smtClean="0"/>
              <a:t>Atalyan</a:t>
            </a:r>
            <a:r>
              <a:rPr lang="en-US" sz="2800" dirty="0" smtClean="0"/>
              <a:t> </a:t>
            </a:r>
            <a:r>
              <a:rPr lang="en-US" sz="2800" dirty="0" err="1" smtClean="0"/>
              <a:t>Alina</a:t>
            </a:r>
            <a:r>
              <a:rPr lang="en-US" sz="2800" dirty="0" smtClean="0"/>
              <a:t> </a:t>
            </a:r>
            <a:r>
              <a:rPr lang="en-US" sz="2800" dirty="0" err="1" smtClean="0"/>
              <a:t>Valerievna</a:t>
            </a:r>
            <a:endParaRPr lang="en-US" sz="2800" dirty="0" smtClean="0"/>
          </a:p>
          <a:p>
            <a:r>
              <a:rPr lang="en-US" sz="2800" dirty="0" smtClean="0">
                <a:hlinkClick r:id="rId2"/>
              </a:rPr>
              <a:t>alinaa@mail.ru</a:t>
            </a:r>
            <a:endParaRPr lang="en-US" sz="2800" dirty="0" smtClean="0"/>
          </a:p>
          <a:p>
            <a:endParaRPr lang="ru-RU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2699792" y="195486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Irkutsk </a:t>
            </a:r>
            <a:r>
              <a:rPr lang="en-US" b="1" dirty="0"/>
              <a:t>National Research Technical </a:t>
            </a:r>
            <a:r>
              <a:rPr lang="en-US" b="1" dirty="0" smtClean="0"/>
              <a:t>University</a:t>
            </a:r>
            <a:endParaRPr lang="ru-RU" b="1" dirty="0" smtClean="0"/>
          </a:p>
          <a:p>
            <a:pPr algn="ctr"/>
            <a:r>
              <a:rPr lang="en-US" b="1" dirty="0" smtClean="0"/>
              <a:t>Baikal </a:t>
            </a:r>
            <a:r>
              <a:rPr lang="en-US" b="1" dirty="0"/>
              <a:t>school of BRICS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9" y="94491"/>
            <a:ext cx="1704689" cy="162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059832" y="987574"/>
            <a:ext cx="5652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09.04.02 Information systems and technology</a:t>
            </a:r>
            <a:endParaRPr lang="ru-RU" dirty="0" smtClean="0"/>
          </a:p>
          <a:p>
            <a:pPr algn="ctr"/>
            <a:r>
              <a:rPr lang="en-US" dirty="0" smtClean="0"/>
              <a:t>Program</a:t>
            </a:r>
            <a:r>
              <a:rPr lang="ru-RU" dirty="0" smtClean="0"/>
              <a:t>: </a:t>
            </a:r>
            <a:r>
              <a:rPr lang="en-US" dirty="0" smtClean="0"/>
              <a:t>Information technologies, networks and big data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54773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23311" y="14563"/>
            <a:ext cx="30376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Practical class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755576" y="722449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33206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569837" y="707317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Advanced Data Analysis Techniques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2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675945" y="1707654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Cluster </a:t>
            </a:r>
            <a:r>
              <a:rPr lang="en-US" sz="2400" dirty="0"/>
              <a:t>Analysis </a:t>
            </a:r>
            <a:endParaRPr lang="ru-RU" sz="2400" dirty="0" smtClean="0"/>
          </a:p>
          <a:p>
            <a:r>
              <a:rPr lang="en-US" sz="2400" dirty="0"/>
              <a:t>Multidimensional </a:t>
            </a:r>
            <a:r>
              <a:rPr lang="en-US" sz="2400" dirty="0" smtClean="0"/>
              <a:t>Scaling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1669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755576" y="722449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44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sz="44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4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Sets </a:t>
            </a:r>
            <a:r>
              <a:rPr lang="en-US" sz="44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44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339" y="47643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07005" y="915566"/>
            <a:ext cx="8324474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Name:</a:t>
            </a:r>
            <a:r>
              <a:rPr lang="en-US" sz="1400" dirty="0"/>
              <a:t> “</a:t>
            </a:r>
            <a:r>
              <a:rPr lang="en-US" sz="1400" dirty="0" err="1"/>
              <a:t>Arctic_chrysophyte_abundance</a:t>
            </a:r>
            <a:r>
              <a:rPr lang="en-US" sz="1400" dirty="0"/>
              <a:t>” (field data, original file data.txt)</a:t>
            </a:r>
          </a:p>
          <a:p>
            <a:r>
              <a:rPr lang="en-US" sz="1400" b="1" dirty="0"/>
              <a:t>Source:</a:t>
            </a:r>
            <a:r>
              <a:rPr lang="en-US" sz="1400" dirty="0"/>
              <a:t> Field sampling in Arctic and subarctic regions of Russia (expeditions to Taimyr, Lena River, Kara Sea coast)</a:t>
            </a:r>
          </a:p>
          <a:p>
            <a:r>
              <a:rPr lang="en-US" sz="1400" b="1" dirty="0"/>
              <a:t>Size:</a:t>
            </a:r>
            <a:r>
              <a:rPr lang="en-US" sz="1400" dirty="0"/>
              <a:t> 6 observations (sites) of 34 variables (species)</a:t>
            </a:r>
          </a:p>
          <a:p>
            <a:r>
              <a:rPr lang="en-US" sz="1400" b="1" dirty="0"/>
              <a:t>Format:</a:t>
            </a:r>
            <a:r>
              <a:rPr lang="en-US" sz="1400" dirty="0"/>
              <a:t> TXT (tab‑separated), header = TRUE, row names = first column</a:t>
            </a:r>
          </a:p>
          <a:p>
            <a:r>
              <a:rPr lang="en-US" sz="1400" b="1" dirty="0"/>
              <a:t>Columns:</a:t>
            </a:r>
            <a:endParaRPr lang="en-US" sz="1400" dirty="0"/>
          </a:p>
          <a:p>
            <a:r>
              <a:rPr lang="en-US" sz="1400" dirty="0"/>
              <a:t>lake (character) – Unique site name (e.g., “</a:t>
            </a:r>
            <a:r>
              <a:rPr lang="en-US" sz="1400" dirty="0" err="1"/>
              <a:t>Ledyanaya</a:t>
            </a:r>
            <a:r>
              <a:rPr lang="en-US" sz="1400" dirty="0"/>
              <a:t> Gora”, “</a:t>
            </a:r>
            <a:r>
              <a:rPr lang="en-US" sz="1400" dirty="0" err="1"/>
              <a:t>Karaul</a:t>
            </a:r>
            <a:r>
              <a:rPr lang="en-US" sz="1400" dirty="0"/>
              <a:t> village”, etc.)</a:t>
            </a:r>
          </a:p>
          <a:p>
            <a:r>
              <a:rPr lang="en-US" sz="1400" dirty="0" err="1"/>
              <a:t>Chrysosphaerella</a:t>
            </a:r>
            <a:r>
              <a:rPr lang="en-US" sz="1400" dirty="0"/>
              <a:t> </a:t>
            </a:r>
            <a:r>
              <a:rPr lang="en-US" sz="1400" dirty="0" err="1"/>
              <a:t>brevispina</a:t>
            </a:r>
            <a:r>
              <a:rPr lang="en-US" sz="1400" dirty="0"/>
              <a:t> (</a:t>
            </a:r>
            <a:r>
              <a:rPr lang="en-US" sz="1400" dirty="0" err="1"/>
              <a:t>int</a:t>
            </a:r>
            <a:r>
              <a:rPr lang="en-US" sz="1400" dirty="0"/>
              <a:t>) – Abundance score (0–3)</a:t>
            </a:r>
          </a:p>
          <a:p>
            <a:r>
              <a:rPr lang="en-US" sz="1400" dirty="0"/>
              <a:t>C. </a:t>
            </a:r>
            <a:r>
              <a:rPr lang="en-US" sz="1400" dirty="0" err="1"/>
              <a:t>coronacircumspina</a:t>
            </a:r>
            <a:r>
              <a:rPr lang="en-US" sz="1400" dirty="0"/>
              <a:t> (</a:t>
            </a:r>
            <a:r>
              <a:rPr lang="en-US" sz="1400" dirty="0" err="1"/>
              <a:t>int</a:t>
            </a:r>
            <a:r>
              <a:rPr lang="en-US" sz="1400" dirty="0"/>
              <a:t>) – Abundance score</a:t>
            </a:r>
          </a:p>
          <a:p>
            <a:r>
              <a:rPr lang="en-US" sz="1400" dirty="0"/>
              <a:t>C. </a:t>
            </a:r>
            <a:r>
              <a:rPr lang="en-US" sz="1400" dirty="0" err="1"/>
              <a:t>longispina</a:t>
            </a:r>
            <a:r>
              <a:rPr lang="en-US" sz="1400" dirty="0"/>
              <a:t> (</a:t>
            </a:r>
            <a:r>
              <a:rPr lang="en-US" sz="1400" dirty="0" err="1"/>
              <a:t>int</a:t>
            </a:r>
            <a:r>
              <a:rPr lang="en-US" sz="1400" dirty="0"/>
              <a:t>) – Abundance score</a:t>
            </a:r>
          </a:p>
          <a:p>
            <a:r>
              <a:rPr lang="en-US" sz="1400" dirty="0"/>
              <a:t>… (total 34 species columns, each integer 0–3</a:t>
            </a:r>
            <a:r>
              <a:rPr lang="en-US" sz="1400" dirty="0" smtClean="0"/>
              <a:t>)</a:t>
            </a:r>
            <a:endParaRPr lang="ru-RU" sz="1400" dirty="0" smtClean="0"/>
          </a:p>
          <a:p>
            <a:endParaRPr lang="ru-RU" sz="1400" dirty="0"/>
          </a:p>
          <a:p>
            <a:r>
              <a:rPr lang="en-US" sz="1400" dirty="0"/>
              <a:t>*Note: All species columns follow the same coding: 0 = absent, 1 = rare, 2 = moderate, 3 = abundant (semi‑quantitative counts).*</a:t>
            </a:r>
          </a:p>
          <a:p>
            <a:r>
              <a:rPr lang="en-US" sz="1400" b="1" dirty="0"/>
              <a:t>Potential Use for the Practical Class 3 (or similar multivariate analysis):</a:t>
            </a:r>
            <a:endParaRPr lang="en-US" sz="1400" dirty="0"/>
          </a:p>
          <a:p>
            <a:r>
              <a:rPr lang="en-US" sz="1400" dirty="0"/>
              <a:t>Computation of distance matrices (Euclidean, Bray–Curtis, </a:t>
            </a:r>
            <a:r>
              <a:rPr lang="en-US" sz="1400" dirty="0" err="1"/>
              <a:t>Jaccard</a:t>
            </a:r>
            <a:r>
              <a:rPr lang="en-US" sz="1400" dirty="0"/>
              <a:t>)</a:t>
            </a:r>
          </a:p>
          <a:p>
            <a:r>
              <a:rPr lang="en-US" sz="1400" dirty="0"/>
              <a:t>Non‑metric Multidimensional Scaling (NMDS) for ordination</a:t>
            </a:r>
          </a:p>
          <a:p>
            <a:r>
              <a:rPr lang="en-US" sz="1400" dirty="0"/>
              <a:t>Hierarchical cluster analysis (UPGMA) to group sites by species </a:t>
            </a:r>
            <a:r>
              <a:rPr lang="en-US" sz="1400" dirty="0" smtClean="0"/>
              <a:t>composition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dirty="0">
              <a:solidFill>
                <a:srgbClr val="40404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05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804248" y="4746058"/>
            <a:ext cx="2133600" cy="273844"/>
          </a:xfrm>
        </p:spPr>
        <p:txBody>
          <a:bodyPr/>
          <a:lstStyle/>
          <a:p>
            <a:fld id="{FDA26908-7E75-41BD-96D0-627959D7434D}" type="slidenum">
              <a:rPr lang="ru-RU" smtClean="0"/>
              <a:t>4</a:t>
            </a:fld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755576" y="722449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725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Cluster</a:t>
            </a:r>
            <a:r>
              <a:rPr lang="ru-RU" sz="40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4000" kern="1200" dirty="0" err="1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Analysis</a:t>
            </a:r>
            <a:endParaRPr lang="ru-RU" sz="4000" kern="12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129803" y="4869656"/>
            <a:ext cx="2133600" cy="273844"/>
          </a:xfrm>
        </p:spPr>
        <p:txBody>
          <a:bodyPr/>
          <a:lstStyle/>
          <a:p>
            <a:r>
              <a:rPr lang="ru-RU" smtClean="0"/>
              <a:t>12.05.26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835696" y="843558"/>
            <a:ext cx="575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HIERARCHICAL </a:t>
            </a:r>
            <a:r>
              <a:rPr lang="en-US" b="1" dirty="0"/>
              <a:t>AGGLOMERATIVE </a:t>
            </a:r>
            <a:r>
              <a:rPr lang="en-US" b="1" dirty="0" smtClean="0"/>
              <a:t>CLUSTER (HAC) </a:t>
            </a:r>
            <a:r>
              <a:rPr lang="en-US" b="1" dirty="0"/>
              <a:t>ANALYSIS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1275606"/>
            <a:ext cx="62646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HAC Works</a:t>
            </a:r>
            <a:endParaRPr lang="en-US" dirty="0"/>
          </a:p>
          <a:p>
            <a:r>
              <a:rPr lang="en-US" b="1" dirty="0"/>
              <a:t>Start</a:t>
            </a:r>
            <a:r>
              <a:rPr lang="en-US" dirty="0"/>
              <a:t>: Each data point is its own cluster.</a:t>
            </a:r>
          </a:p>
          <a:p>
            <a:r>
              <a:rPr lang="en-US" b="1" dirty="0"/>
              <a:t>Merge</a:t>
            </a:r>
            <a:r>
              <a:rPr lang="en-US" dirty="0"/>
              <a:t>: Find the two closest clusters and combine them.</a:t>
            </a:r>
          </a:p>
          <a:p>
            <a:r>
              <a:rPr lang="en-US" b="1" dirty="0"/>
              <a:t>Repeat</a:t>
            </a:r>
            <a:r>
              <a:rPr lang="en-US" dirty="0"/>
              <a:t>: Continue merging until all points are in one cluster.</a:t>
            </a:r>
          </a:p>
          <a:p>
            <a:r>
              <a:rPr lang="en-US" b="1" dirty="0"/>
              <a:t>Result</a:t>
            </a:r>
            <a:r>
              <a:rPr lang="en-US" dirty="0"/>
              <a:t>: A </a:t>
            </a:r>
            <a:r>
              <a:rPr lang="en-US" dirty="0" err="1"/>
              <a:t>dendrogram</a:t>
            </a:r>
            <a:r>
              <a:rPr lang="en-US" dirty="0"/>
              <a:t> showing cluster hierarchy.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652120" y="2789515"/>
            <a:ext cx="32880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depending on which has smallest </a:t>
            </a:r>
            <a:endParaRPr lang="en-US" dirty="0" smtClean="0"/>
          </a:p>
          <a:p>
            <a:r>
              <a:rPr lang="en-US" dirty="0" smtClean="0"/>
              <a:t>distance </a:t>
            </a:r>
            <a:r>
              <a:rPr lang="en-US" dirty="0"/>
              <a:t>in terms of the </a:t>
            </a:r>
            <a:r>
              <a:rPr lang="en-US" b="1" dirty="0"/>
              <a:t>metric</a:t>
            </a:r>
            <a:r>
              <a:rPr lang="en-US" dirty="0"/>
              <a:t>.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6228184" y="2014270"/>
            <a:ext cx="1296144" cy="7386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786470" y="3570570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Different metrics </a:t>
            </a:r>
            <a:r>
              <a:rPr lang="en-US" dirty="0"/>
              <a:t>lead to different kinds of hierarchical agglomerative clustering</a:t>
            </a:r>
            <a:endParaRPr lang="ru-RU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896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804248" y="4746058"/>
            <a:ext cx="2133600" cy="273844"/>
          </a:xfrm>
        </p:spPr>
        <p:txBody>
          <a:bodyPr/>
          <a:lstStyle/>
          <a:p>
            <a:fld id="{FDA26908-7E75-41BD-96D0-627959D7434D}" type="slidenum">
              <a:rPr lang="ru-RU" smtClean="0"/>
              <a:t>5</a:t>
            </a:fld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755576" y="722449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725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Cluster</a:t>
            </a:r>
            <a:r>
              <a:rPr lang="ru-RU" sz="40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4000" kern="1200" dirty="0" err="1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Analysis</a:t>
            </a:r>
            <a:endParaRPr lang="ru-RU" sz="4000" kern="12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129803" y="4869656"/>
            <a:ext cx="2133600" cy="273844"/>
          </a:xfrm>
        </p:spPr>
        <p:txBody>
          <a:bodyPr/>
          <a:lstStyle/>
          <a:p>
            <a:r>
              <a:rPr lang="ru-RU" smtClean="0"/>
              <a:t>12.05.26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835696" y="843558"/>
            <a:ext cx="575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HIERARCHICAL </a:t>
            </a:r>
            <a:r>
              <a:rPr lang="en-US" b="1" dirty="0"/>
              <a:t>AGGLOMERATIVE </a:t>
            </a:r>
            <a:r>
              <a:rPr lang="en-US" b="1" dirty="0" smtClean="0"/>
              <a:t>CLUSTER (HAC) </a:t>
            </a:r>
            <a:r>
              <a:rPr lang="en-US" b="1" dirty="0"/>
              <a:t>ANALYSIS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563888" y="1212890"/>
            <a:ext cx="180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Different </a:t>
            </a:r>
            <a:r>
              <a:rPr lang="en-US" b="1" dirty="0" smtClean="0"/>
              <a:t>metrics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11559" y="1851670"/>
            <a:ext cx="2295821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Euclidean </a:t>
            </a:r>
            <a:r>
              <a:rPr lang="en-US" b="1" dirty="0" smtClean="0"/>
              <a:t>Distance</a:t>
            </a:r>
          </a:p>
          <a:p>
            <a:endParaRPr lang="en-US" b="1" dirty="0" smtClean="0"/>
          </a:p>
          <a:p>
            <a:r>
              <a:rPr lang="en-US" b="1" dirty="0"/>
              <a:t>Manhattan </a:t>
            </a:r>
            <a:r>
              <a:rPr lang="en-US" b="1" dirty="0" smtClean="0"/>
              <a:t>Distance</a:t>
            </a:r>
          </a:p>
          <a:p>
            <a:endParaRPr lang="en-US" b="1" dirty="0"/>
          </a:p>
          <a:p>
            <a:r>
              <a:rPr lang="en-US" b="1" dirty="0"/>
              <a:t>Cosine </a:t>
            </a:r>
            <a:r>
              <a:rPr lang="en-US" b="1" dirty="0" smtClean="0"/>
              <a:t>Similarity</a:t>
            </a:r>
          </a:p>
          <a:p>
            <a:endParaRPr lang="en-US" b="1" dirty="0" smtClean="0"/>
          </a:p>
          <a:p>
            <a:r>
              <a:rPr lang="en-US" b="1" dirty="0" err="1" smtClean="0"/>
              <a:t>Mahalanobis</a:t>
            </a:r>
            <a:r>
              <a:rPr lang="en-US" b="1" dirty="0" smtClean="0"/>
              <a:t> Distance</a:t>
            </a:r>
          </a:p>
          <a:p>
            <a:endParaRPr lang="en-US" b="1" dirty="0"/>
          </a:p>
          <a:p>
            <a:r>
              <a:rPr lang="en-US" b="1" dirty="0"/>
              <a:t>Correlation Distance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597756"/>
            <a:ext cx="1817546" cy="64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278793"/>
            <a:ext cx="1762094" cy="54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15766"/>
            <a:ext cx="2071686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604" y="3384732"/>
            <a:ext cx="2854052" cy="530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006" y="3929584"/>
            <a:ext cx="2267098" cy="523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060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804248" y="4746058"/>
            <a:ext cx="2133600" cy="273844"/>
          </a:xfrm>
        </p:spPr>
        <p:txBody>
          <a:bodyPr/>
          <a:lstStyle/>
          <a:p>
            <a:fld id="{FDA26908-7E75-41BD-96D0-627959D7434D}" type="slidenum">
              <a:rPr lang="ru-RU" smtClean="0"/>
              <a:t>6</a:t>
            </a:fld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755576" y="722449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725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Cluster</a:t>
            </a:r>
            <a:r>
              <a:rPr lang="ru-RU" sz="40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4000" kern="1200" dirty="0" err="1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Analysis</a:t>
            </a:r>
            <a:endParaRPr lang="ru-RU" sz="4000" kern="12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129803" y="4869656"/>
            <a:ext cx="2133600" cy="273844"/>
          </a:xfrm>
        </p:spPr>
        <p:txBody>
          <a:bodyPr/>
          <a:lstStyle/>
          <a:p>
            <a:r>
              <a:rPr lang="ru-RU" smtClean="0"/>
              <a:t>12.05.26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835696" y="843558"/>
            <a:ext cx="575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HIERARCHICAL </a:t>
            </a:r>
            <a:r>
              <a:rPr lang="en-US" b="1" dirty="0"/>
              <a:t>AGGLOMERATIVE </a:t>
            </a:r>
            <a:r>
              <a:rPr lang="en-US" b="1" dirty="0" smtClean="0"/>
              <a:t>CLUSTER (HAC) </a:t>
            </a:r>
            <a:r>
              <a:rPr lang="en-US" b="1" dirty="0"/>
              <a:t>ANALYSIS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5496" y="1131590"/>
            <a:ext cx="180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Different </a:t>
            </a:r>
            <a:r>
              <a:rPr lang="en-US" b="1" dirty="0" smtClean="0"/>
              <a:t>metrics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7905" y="1597756"/>
            <a:ext cx="2150332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Euclidean </a:t>
            </a:r>
            <a:r>
              <a:rPr lang="en-US" b="1" dirty="0" smtClean="0"/>
              <a:t>Distance</a:t>
            </a:r>
          </a:p>
          <a:p>
            <a:endParaRPr lang="en-US" b="1" dirty="0" smtClean="0"/>
          </a:p>
          <a:p>
            <a:endParaRPr lang="ru-RU" b="1" dirty="0"/>
          </a:p>
          <a:p>
            <a:r>
              <a:rPr lang="en-US" b="1" dirty="0" smtClean="0"/>
              <a:t>Bray–Curtis Distance</a:t>
            </a:r>
            <a:endParaRPr lang="ru-RU" b="1" dirty="0" smtClean="0"/>
          </a:p>
          <a:p>
            <a:endParaRPr lang="ru-RU" b="1" dirty="0"/>
          </a:p>
          <a:p>
            <a:r>
              <a:rPr lang="en-US" dirty="0"/>
              <a:t> </a:t>
            </a:r>
            <a:endParaRPr lang="ru-RU" dirty="0" smtClean="0"/>
          </a:p>
          <a:p>
            <a:endParaRPr lang="ru-RU" b="1" dirty="0"/>
          </a:p>
          <a:p>
            <a:endParaRPr lang="ru-RU" b="1" dirty="0"/>
          </a:p>
          <a:p>
            <a:r>
              <a:rPr lang="en-US" b="1" dirty="0" err="1" smtClean="0"/>
              <a:t>Jaccard</a:t>
            </a:r>
            <a:r>
              <a:rPr lang="en-US" b="1" dirty="0" smtClean="0"/>
              <a:t> distance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498877"/>
            <a:ext cx="1817546" cy="64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283718"/>
            <a:ext cx="2310755" cy="761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297856"/>
            <a:ext cx="4844874" cy="1426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723878"/>
            <a:ext cx="2881685" cy="725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57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827584" y="843558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15226" y="123478"/>
            <a:ext cx="8229600" cy="85725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NMDS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Cluster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Analysis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7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07654"/>
            <a:ext cx="3587577" cy="2394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22763"/>
            <a:ext cx="4690245" cy="3364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71600" y="1038097"/>
            <a:ext cx="2016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Euclidean distances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5483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827584" y="843558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79290" y="0"/>
            <a:ext cx="8229600" cy="85725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NMDS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Cluster Analysis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8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27584" y="1059582"/>
            <a:ext cx="223224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u="none" strike="noStrike" cap="none" normalizeH="0" baseline="0" dirty="0" err="1" smtClean="0">
                <a:ln>
                  <a:noFill/>
                </a:ln>
                <a:effectLst/>
                <a:latin typeface="+mj-lt"/>
                <a:cs typeface="Arial" pitchFamily="34" charset="0"/>
              </a:rPr>
              <a:t>Bray</a:t>
            </a:r>
            <a:r>
              <a:rPr kumimoji="0" lang="ru-RU" b="0" u="none" strike="noStrike" cap="none" normalizeH="0" baseline="0" dirty="0" smtClean="0">
                <a:ln>
                  <a:noFill/>
                </a:ln>
                <a:effectLst/>
                <a:latin typeface="+mj-lt"/>
                <a:cs typeface="Arial" pitchFamily="34" charset="0"/>
              </a:rPr>
              <a:t>–</a:t>
            </a:r>
            <a:r>
              <a:rPr kumimoji="0" lang="ru-RU" b="0" u="none" strike="noStrike" cap="none" normalizeH="0" baseline="0" dirty="0" err="1" smtClean="0">
                <a:ln>
                  <a:noFill/>
                </a:ln>
                <a:effectLst/>
                <a:latin typeface="+mj-lt"/>
                <a:cs typeface="Arial" pitchFamily="34" charset="0"/>
              </a:rPr>
              <a:t>Curtis</a:t>
            </a:r>
            <a:r>
              <a:rPr kumimoji="0" lang="ru-RU" b="0" u="none" strike="noStrike" cap="none" normalizeH="0" baseline="0" dirty="0" smtClean="0">
                <a:ln>
                  <a:noFill/>
                </a:ln>
                <a:effectLst/>
                <a:latin typeface="+mj-lt"/>
                <a:cs typeface="Arial" pitchFamily="34" charset="0"/>
              </a:rPr>
              <a:t> </a:t>
            </a:r>
            <a:r>
              <a:rPr kumimoji="0" lang="ru-RU" b="0" u="none" strike="noStrike" cap="none" normalizeH="0" baseline="0" dirty="0" err="1" smtClean="0">
                <a:ln>
                  <a:noFill/>
                </a:ln>
                <a:effectLst/>
                <a:latin typeface="+mj-lt"/>
                <a:cs typeface="Arial" pitchFamily="34" charset="0"/>
              </a:rPr>
              <a:t>distances</a:t>
            </a:r>
            <a:r>
              <a:rPr kumimoji="0" lang="ru-RU" b="0" u="none" strike="noStrike" cap="none" normalizeH="0" baseline="0" dirty="0" smtClean="0">
                <a:ln>
                  <a:noFill/>
                </a:ln>
                <a:effectLst/>
                <a:latin typeface="+mj-lt"/>
                <a:cs typeface="Arial" pitchFamily="34" charset="0"/>
              </a:rPr>
              <a:t>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9662"/>
            <a:ext cx="3481499" cy="243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229470"/>
            <a:ext cx="4413389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3841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827584" y="843558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15226" y="123478"/>
            <a:ext cx="8229600" cy="85725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NMDS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Cluster Analysis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9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35646"/>
            <a:ext cx="4202311" cy="2757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64371"/>
            <a:ext cx="4033342" cy="289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854359" y="1059582"/>
            <a:ext cx="1706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Jaccard</a:t>
            </a:r>
            <a:r>
              <a:rPr lang="en-US" dirty="0"/>
              <a:t> distance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4018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827584" y="843558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15226" y="123478"/>
            <a:ext cx="8229600" cy="85725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NMDS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Cluster Analysis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9257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10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547664" y="1491630"/>
            <a:ext cx="5886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Small sample size (n=6)</a:t>
            </a:r>
            <a:r>
              <a:rPr lang="en-US" dirty="0"/>
              <a:t> – leads to near‑zero stress for Euclidean NMDS (trivial solution, warning issued).</a:t>
            </a:r>
          </a:p>
          <a:p>
            <a:r>
              <a:rPr lang="en-US" b="1" dirty="0"/>
              <a:t>Distance metric matters</a:t>
            </a:r>
            <a:r>
              <a:rPr lang="en-US" dirty="0"/>
              <a:t> – Euclidean is sensitive to double zeros; Bray‑Curtis is ecologically more appropriate for abundance data; </a:t>
            </a:r>
            <a:r>
              <a:rPr lang="en-US" dirty="0" err="1"/>
              <a:t>Jaccard</a:t>
            </a:r>
            <a:r>
              <a:rPr lang="en-US" dirty="0"/>
              <a:t> (quantitative) is similar to Bray‑Curtis.</a:t>
            </a:r>
          </a:p>
          <a:p>
            <a:r>
              <a:rPr lang="en-US" b="1" dirty="0"/>
              <a:t>Clustering unstable</a:t>
            </a:r>
            <a:r>
              <a:rPr lang="en-US" dirty="0"/>
              <a:t> – </a:t>
            </a:r>
            <a:r>
              <a:rPr lang="en-US" dirty="0" err="1"/>
              <a:t>dendrograms</a:t>
            </a:r>
            <a:r>
              <a:rPr lang="en-US" dirty="0"/>
              <a:t> differ by metric; no robust grouping can be inferred from only 6 sites.</a:t>
            </a:r>
          </a:p>
        </p:txBody>
      </p:sp>
    </p:spTree>
    <p:extLst>
      <p:ext uri="{BB962C8B-B14F-4D97-AF65-F5344CB8AC3E}">
        <p14:creationId xmlns:p14="http://schemas.microsoft.com/office/powerpoint/2010/main" val="95217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755576" y="722449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44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Task </a:t>
            </a:r>
            <a:r>
              <a:rPr lang="en-US" sz="4400" kern="1200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5</a:t>
            </a:r>
            <a:r>
              <a:rPr lang="en-US" sz="44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44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556" y="195486"/>
            <a:ext cx="1016997" cy="78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12.05.26</a:t>
            </a:r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30810" y="1419622"/>
            <a:ext cx="86056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</a:t>
            </a:r>
            <a:r>
              <a:rPr lang="en-US" b="1" dirty="0" smtClean="0"/>
              <a:t>Detailed </a:t>
            </a:r>
            <a:r>
              <a:rPr lang="en-US" b="1" dirty="0"/>
              <a:t>analysis with Bray–Curtis distance</a:t>
            </a:r>
          </a:p>
          <a:p>
            <a:r>
              <a:rPr lang="en-US" dirty="0"/>
              <a:t>Compute NMDS (</a:t>
            </a:r>
            <a:r>
              <a:rPr lang="en-US" dirty="0" err="1"/>
              <a:t>metaMDS</a:t>
            </a:r>
            <a:r>
              <a:rPr lang="en-US" dirty="0"/>
              <a:t>, distance = "bray").</a:t>
            </a:r>
          </a:p>
          <a:p>
            <a:r>
              <a:rPr lang="en-US" dirty="0"/>
              <a:t>Fit significant species vectors (</a:t>
            </a:r>
            <a:r>
              <a:rPr lang="en-US" dirty="0" err="1"/>
              <a:t>envfit</a:t>
            </a:r>
            <a:r>
              <a:rPr lang="en-US" dirty="0"/>
              <a:t>, p ≤ 0.05).</a:t>
            </a:r>
          </a:p>
          <a:p>
            <a:r>
              <a:rPr lang="en-US" dirty="0"/>
              <a:t>Perform UPGMA clustering (</a:t>
            </a:r>
            <a:r>
              <a:rPr lang="en-US" dirty="0" err="1"/>
              <a:t>hclust</a:t>
            </a:r>
            <a:r>
              <a:rPr lang="en-US" dirty="0"/>
              <a:t> with method="average").</a:t>
            </a:r>
          </a:p>
          <a:p>
            <a:r>
              <a:rPr lang="en-US" dirty="0"/>
              <a:t>Cut </a:t>
            </a:r>
            <a:r>
              <a:rPr lang="en-US" dirty="0" err="1"/>
              <a:t>dendrogram</a:t>
            </a:r>
            <a:r>
              <a:rPr lang="en-US" dirty="0"/>
              <a:t> into 2–3 clusters (</a:t>
            </a:r>
            <a:r>
              <a:rPr lang="en-US" dirty="0" err="1"/>
              <a:t>cutree</a:t>
            </a:r>
            <a:r>
              <a:rPr lang="en-US" dirty="0"/>
              <a:t>).</a:t>
            </a:r>
          </a:p>
          <a:p>
            <a:r>
              <a:rPr lang="en-US" dirty="0"/>
              <a:t>Plot NMDS with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smtClean="0"/>
              <a:t>Points </a:t>
            </a:r>
            <a:r>
              <a:rPr lang="en-US" dirty="0" err="1"/>
              <a:t>coloured</a:t>
            </a:r>
            <a:r>
              <a:rPr lang="en-US" dirty="0"/>
              <a:t> by cluster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r>
              <a:rPr lang="en-US" dirty="0" smtClean="0"/>
              <a:t>Confidence </a:t>
            </a:r>
            <a:r>
              <a:rPr lang="en-US" dirty="0"/>
              <a:t>ellipses (</a:t>
            </a:r>
            <a:r>
              <a:rPr lang="en-US" dirty="0" err="1"/>
              <a:t>ordiellipse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Significant species arrows (plot(</a:t>
            </a:r>
            <a:r>
              <a:rPr lang="en-US" dirty="0" err="1"/>
              <a:t>fit_sp</a:t>
            </a:r>
            <a:r>
              <a:rPr lang="en-US" dirty="0"/>
              <a:t>, </a:t>
            </a:r>
            <a:r>
              <a:rPr lang="en-US" dirty="0" err="1"/>
              <a:t>p.max</a:t>
            </a:r>
            <a:r>
              <a:rPr lang="en-US" dirty="0"/>
              <a:t>=0.05</a:t>
            </a:r>
            <a:r>
              <a:rPr lang="en-US" dirty="0" smtClean="0"/>
              <a:t>)).</a:t>
            </a:r>
            <a:r>
              <a:rPr lang="ru-RU" dirty="0" smtClean="0"/>
              <a:t> </a:t>
            </a:r>
            <a:r>
              <a:rPr lang="en-US" dirty="0" smtClean="0"/>
              <a:t>Site </a:t>
            </a:r>
            <a:r>
              <a:rPr lang="en-US" dirty="0"/>
              <a:t>labels without overlap (</a:t>
            </a:r>
            <a:r>
              <a:rPr lang="en-US" dirty="0" err="1"/>
              <a:t>orditorp</a:t>
            </a:r>
            <a:r>
              <a:rPr lang="en-US" dirty="0"/>
              <a:t>).</a:t>
            </a:r>
          </a:p>
          <a:p>
            <a:r>
              <a:rPr lang="en-US" b="1" dirty="0" smtClean="0"/>
              <a:t>Test </a:t>
            </a:r>
            <a:r>
              <a:rPr lang="en-US" b="1" dirty="0"/>
              <a:t>differences between clusters</a:t>
            </a:r>
          </a:p>
          <a:p>
            <a:r>
              <a:rPr lang="en-US" dirty="0"/>
              <a:t>Run </a:t>
            </a:r>
            <a:r>
              <a:rPr lang="en-US" b="1" dirty="0"/>
              <a:t>PERMANOVA</a:t>
            </a:r>
            <a:r>
              <a:rPr lang="en-US" dirty="0"/>
              <a:t> (adonis2, Bray–Curtis, 999 permutations) on the clusters obtained above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r>
              <a:rPr lang="en-US" dirty="0" smtClean="0"/>
              <a:t>Report</a:t>
            </a:r>
            <a:r>
              <a:rPr lang="en-US" dirty="0"/>
              <a:t> </a:t>
            </a:r>
            <a:r>
              <a:rPr lang="en-US" b="1" dirty="0"/>
              <a:t>R²</a:t>
            </a:r>
            <a:r>
              <a:rPr lang="en-US" dirty="0"/>
              <a:t> and </a:t>
            </a:r>
            <a:r>
              <a:rPr lang="en-US" b="1" dirty="0" smtClean="0"/>
              <a:t>p‑value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r>
              <a:rPr lang="en-US" dirty="0" smtClean="0"/>
              <a:t>Conclude </a:t>
            </a:r>
            <a:r>
              <a:rPr lang="en-US" dirty="0"/>
              <a:t>whether clusters differ significantly in species composition</a:t>
            </a:r>
            <a:r>
              <a:rPr lang="en-US" dirty="0" smtClean="0"/>
              <a:t>.</a:t>
            </a:r>
            <a:endParaRPr lang="ru-RU" sz="16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6878C-2127-40CF-8B63-88FA79C4AE39}" type="slidenum">
              <a:rPr lang="ru-RU" smtClean="0"/>
              <a:t>11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32708" y="84355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Deadline subgroup 1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19.0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.202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23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:59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Deadline subgroup 2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6.0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.202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23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:59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59641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4562</TotalTime>
  <Words>257</Words>
  <Application>Microsoft Office PowerPoint</Application>
  <PresentationFormat>Экран (16:9)</PresentationFormat>
  <Paragraphs>105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Course: Data analysis</vt:lpstr>
      <vt:lpstr>Advanced Data Analysis Techniques </vt:lpstr>
      <vt:lpstr>Data Sets   </vt:lpstr>
      <vt:lpstr>Cluster Analysis</vt:lpstr>
      <vt:lpstr>Cluster Analysis</vt:lpstr>
      <vt:lpstr>Cluster Analysis</vt:lpstr>
      <vt:lpstr>NMDS vs Cluster Analysis </vt:lpstr>
      <vt:lpstr>NMDS vs Cluster Analysis </vt:lpstr>
      <vt:lpstr>NMDS vs Cluster Analysis </vt:lpstr>
      <vt:lpstr>NMDS vs Cluster Analysis </vt:lpstr>
      <vt:lpstr>Task 5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and Cleaning</dc:title>
  <dc:creator>admin</dc:creator>
  <cp:lastModifiedBy>admin</cp:lastModifiedBy>
  <cp:revision>89</cp:revision>
  <dcterms:created xsi:type="dcterms:W3CDTF">2025-03-26T05:48:10Z</dcterms:created>
  <dcterms:modified xsi:type="dcterms:W3CDTF">2026-05-12T08:31:15Z</dcterms:modified>
</cp:coreProperties>
</file>